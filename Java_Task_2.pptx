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22"/>
  </p:handoutMasterIdLst>
  <p:sldIdLst>
    <p:sldId id="340" r:id="rId4"/>
    <p:sldId id="341" r:id="rId6"/>
    <p:sldId id="342" r:id="rId7"/>
    <p:sldId id="372" r:id="rId8"/>
    <p:sldId id="376" r:id="rId9"/>
    <p:sldId id="381" r:id="rId10"/>
    <p:sldId id="373" r:id="rId11"/>
    <p:sldId id="377" r:id="rId12"/>
    <p:sldId id="375" r:id="rId13"/>
    <p:sldId id="343" r:id="rId14"/>
    <p:sldId id="384" r:id="rId15"/>
    <p:sldId id="354" r:id="rId16"/>
    <p:sldId id="379" r:id="rId17"/>
    <p:sldId id="383" r:id="rId18"/>
    <p:sldId id="374" r:id="rId19"/>
    <p:sldId id="382" r:id="rId20"/>
    <p:sldId id="393" r:id="rId21"/>
  </p:sldIdLst>
  <p:sldSz cx="12192000" cy="6858000"/>
  <p:notesSz cx="6858000" cy="9144000"/>
  <p:embeddedFontLst>
    <p:embeddedFont>
      <p:font typeface="Inter" panose="02000503000000020004" charset="0"/>
      <p:regular r:id="rId26"/>
      <p:bold r:id="rId27"/>
    </p:embeddedFont>
    <p:embeddedFont>
      <p:font typeface="Inter Black" panose="02000503000000020004" charset="0"/>
      <p:bold r:id="rId28"/>
    </p:embeddedFont>
  </p:embeddedFontLst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DBF8"/>
    <a:srgbClr val="4AC7F9"/>
    <a:srgbClr val="47B2FA"/>
    <a:srgbClr val="54A6FB"/>
    <a:srgbClr val="4589FB"/>
    <a:srgbClr val="4675FC"/>
    <a:srgbClr val="54FDED"/>
    <a:srgbClr val="4EE4F0"/>
    <a:srgbClr val="49CCF3"/>
    <a:srgbClr val="44B3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gs" Target="tags/tag251.xml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</a:fld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</a:fld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137.xml"/><Relationship Id="rId13" Type="http://schemas.openxmlformats.org/officeDocument/2006/relationships/tags" Target="../tags/tag136.xml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45.xml"/><Relationship Id="rId8" Type="http://schemas.openxmlformats.org/officeDocument/2006/relationships/tags" Target="../tags/tag144.xml"/><Relationship Id="rId7" Type="http://schemas.openxmlformats.org/officeDocument/2006/relationships/tags" Target="../tags/tag143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6" Type="http://schemas.openxmlformats.org/officeDocument/2006/relationships/notesSlide" Target="../notesSlides/notesSlide2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160.xml"/><Relationship Id="rId23" Type="http://schemas.openxmlformats.org/officeDocument/2006/relationships/tags" Target="../tags/tag159.xml"/><Relationship Id="rId22" Type="http://schemas.openxmlformats.org/officeDocument/2006/relationships/tags" Target="../tags/tag158.xml"/><Relationship Id="rId21" Type="http://schemas.openxmlformats.org/officeDocument/2006/relationships/tags" Target="../tags/tag157.xml"/><Relationship Id="rId20" Type="http://schemas.openxmlformats.org/officeDocument/2006/relationships/tags" Target="../tags/tag156.xml"/><Relationship Id="rId2" Type="http://schemas.openxmlformats.org/officeDocument/2006/relationships/tags" Target="../tags/tag138.xml"/><Relationship Id="rId19" Type="http://schemas.openxmlformats.org/officeDocument/2006/relationships/tags" Target="../tags/tag155.xml"/><Relationship Id="rId18" Type="http://schemas.openxmlformats.org/officeDocument/2006/relationships/tags" Target="../tags/tag154.xml"/><Relationship Id="rId17" Type="http://schemas.openxmlformats.org/officeDocument/2006/relationships/tags" Target="../tags/tag153.xml"/><Relationship Id="rId16" Type="http://schemas.openxmlformats.org/officeDocument/2006/relationships/tags" Target="../tags/tag152.xml"/><Relationship Id="rId15" Type="http://schemas.openxmlformats.org/officeDocument/2006/relationships/tags" Target="../tags/tag151.xml"/><Relationship Id="rId14" Type="http://schemas.openxmlformats.org/officeDocument/2006/relationships/tags" Target="../tags/tag150.xml"/><Relationship Id="rId13" Type="http://schemas.openxmlformats.org/officeDocument/2006/relationships/tags" Target="../tags/tag149.xml"/><Relationship Id="rId12" Type="http://schemas.openxmlformats.org/officeDocument/2006/relationships/tags" Target="../tags/tag148.xml"/><Relationship Id="rId11" Type="http://schemas.openxmlformats.org/officeDocument/2006/relationships/tags" Target="../tags/tag147.xml"/><Relationship Id="rId10" Type="http://schemas.openxmlformats.org/officeDocument/2006/relationships/tags" Target="../tags/tag146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80.xml"/><Relationship Id="rId8" Type="http://schemas.openxmlformats.org/officeDocument/2006/relationships/image" Target="../media/image5.jpeg"/><Relationship Id="rId7" Type="http://schemas.openxmlformats.org/officeDocument/2006/relationships/tags" Target="../tags/tag179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90.xml"/><Relationship Id="rId8" Type="http://schemas.openxmlformats.org/officeDocument/2006/relationships/tags" Target="../tags/tag189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0" Type="http://schemas.openxmlformats.org/officeDocument/2006/relationships/notesSlide" Target="../notesSlides/notesSlide10.xml"/><Relationship Id="rId4" Type="http://schemas.openxmlformats.org/officeDocument/2006/relationships/tags" Target="../tags/tag185.xml"/><Relationship Id="rId39" Type="http://schemas.openxmlformats.org/officeDocument/2006/relationships/slideLayout" Target="../slideLayouts/slideLayout12.xml"/><Relationship Id="rId38" Type="http://schemas.openxmlformats.org/officeDocument/2006/relationships/tags" Target="../tags/tag211.xml"/><Relationship Id="rId37" Type="http://schemas.openxmlformats.org/officeDocument/2006/relationships/tags" Target="../tags/tag210.xml"/><Relationship Id="rId36" Type="http://schemas.openxmlformats.org/officeDocument/2006/relationships/tags" Target="../tags/tag209.xml"/><Relationship Id="rId35" Type="http://schemas.openxmlformats.org/officeDocument/2006/relationships/image" Target="../media/image13.svg"/><Relationship Id="rId34" Type="http://schemas.openxmlformats.org/officeDocument/2006/relationships/image" Target="../media/image12.png"/><Relationship Id="rId33" Type="http://schemas.openxmlformats.org/officeDocument/2006/relationships/tags" Target="../tags/tag208.xml"/><Relationship Id="rId32" Type="http://schemas.openxmlformats.org/officeDocument/2006/relationships/image" Target="../media/image11.svg"/><Relationship Id="rId31" Type="http://schemas.openxmlformats.org/officeDocument/2006/relationships/image" Target="../media/image10.png"/><Relationship Id="rId30" Type="http://schemas.openxmlformats.org/officeDocument/2006/relationships/tags" Target="../tags/tag207.xml"/><Relationship Id="rId3" Type="http://schemas.openxmlformats.org/officeDocument/2006/relationships/tags" Target="../tags/tag184.xml"/><Relationship Id="rId29" Type="http://schemas.openxmlformats.org/officeDocument/2006/relationships/image" Target="../media/image9.svg"/><Relationship Id="rId28" Type="http://schemas.openxmlformats.org/officeDocument/2006/relationships/image" Target="../media/image8.png"/><Relationship Id="rId27" Type="http://schemas.openxmlformats.org/officeDocument/2006/relationships/tags" Target="../tags/tag206.xml"/><Relationship Id="rId26" Type="http://schemas.openxmlformats.org/officeDocument/2006/relationships/image" Target="../media/image7.svg"/><Relationship Id="rId25" Type="http://schemas.openxmlformats.org/officeDocument/2006/relationships/image" Target="../media/image6.png"/><Relationship Id="rId24" Type="http://schemas.openxmlformats.org/officeDocument/2006/relationships/tags" Target="../tags/tag205.xml"/><Relationship Id="rId23" Type="http://schemas.openxmlformats.org/officeDocument/2006/relationships/tags" Target="../tags/tag204.xml"/><Relationship Id="rId22" Type="http://schemas.openxmlformats.org/officeDocument/2006/relationships/tags" Target="../tags/tag203.xml"/><Relationship Id="rId21" Type="http://schemas.openxmlformats.org/officeDocument/2006/relationships/tags" Target="../tags/tag202.xml"/><Relationship Id="rId20" Type="http://schemas.openxmlformats.org/officeDocument/2006/relationships/tags" Target="../tags/tag201.xml"/><Relationship Id="rId2" Type="http://schemas.openxmlformats.org/officeDocument/2006/relationships/tags" Target="../tags/tag183.xml"/><Relationship Id="rId19" Type="http://schemas.openxmlformats.org/officeDocument/2006/relationships/tags" Target="../tags/tag200.xml"/><Relationship Id="rId18" Type="http://schemas.openxmlformats.org/officeDocument/2006/relationships/tags" Target="../tags/tag199.xml"/><Relationship Id="rId17" Type="http://schemas.openxmlformats.org/officeDocument/2006/relationships/tags" Target="../tags/tag198.xml"/><Relationship Id="rId16" Type="http://schemas.openxmlformats.org/officeDocument/2006/relationships/tags" Target="../tags/tag197.xml"/><Relationship Id="rId15" Type="http://schemas.openxmlformats.org/officeDocument/2006/relationships/tags" Target="../tags/tag196.xml"/><Relationship Id="rId14" Type="http://schemas.openxmlformats.org/officeDocument/2006/relationships/tags" Target="../tags/tag195.xml"/><Relationship Id="rId13" Type="http://schemas.openxmlformats.org/officeDocument/2006/relationships/tags" Target="../tags/tag194.xml"/><Relationship Id="rId12" Type="http://schemas.openxmlformats.org/officeDocument/2006/relationships/tags" Target="../tags/tag193.xml"/><Relationship Id="rId11" Type="http://schemas.openxmlformats.org/officeDocument/2006/relationships/tags" Target="../tags/tag192.xml"/><Relationship Id="rId10" Type="http://schemas.openxmlformats.org/officeDocument/2006/relationships/tags" Target="../tags/tag191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214.xml"/><Relationship Id="rId3" Type="http://schemas.openxmlformats.org/officeDocument/2006/relationships/tags" Target="../tags/tag213.xml"/><Relationship Id="rId2" Type="http://schemas.openxmlformats.org/officeDocument/2006/relationships/tags" Target="../tags/tag212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2.xml"/><Relationship Id="rId7" Type="http://schemas.openxmlformats.org/officeDocument/2006/relationships/tags" Target="../tags/tag220.xml"/><Relationship Id="rId6" Type="http://schemas.openxmlformats.org/officeDocument/2006/relationships/tags" Target="../tags/tag219.xml"/><Relationship Id="rId5" Type="http://schemas.openxmlformats.org/officeDocument/2006/relationships/tags" Target="../tags/tag218.xml"/><Relationship Id="rId4" Type="http://schemas.openxmlformats.org/officeDocument/2006/relationships/tags" Target="../tags/tag217.xml"/><Relationship Id="rId3" Type="http://schemas.openxmlformats.org/officeDocument/2006/relationships/tags" Target="../tags/tag216.xml"/><Relationship Id="rId2" Type="http://schemas.openxmlformats.org/officeDocument/2006/relationships/tags" Target="../tags/tag215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27.xml"/><Relationship Id="rId8" Type="http://schemas.openxmlformats.org/officeDocument/2006/relationships/image" Target="../media/image5.jpeg"/><Relationship Id="rId7" Type="http://schemas.openxmlformats.org/officeDocument/2006/relationships/tags" Target="../tags/tag226.xml"/><Relationship Id="rId6" Type="http://schemas.openxmlformats.org/officeDocument/2006/relationships/tags" Target="../tags/tag225.xml"/><Relationship Id="rId5" Type="http://schemas.openxmlformats.org/officeDocument/2006/relationships/tags" Target="../tags/tag224.xml"/><Relationship Id="rId4" Type="http://schemas.openxmlformats.org/officeDocument/2006/relationships/tags" Target="../tags/tag223.xml"/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image" Target="../media/image3.jpeg"/><Relationship Id="rId1" Type="http://schemas.openxmlformats.org/officeDocument/2006/relationships/tags" Target="../tags/tag228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233.xml"/><Relationship Id="rId3" Type="http://schemas.openxmlformats.org/officeDocument/2006/relationships/tags" Target="../tags/tag232.xml"/><Relationship Id="rId2" Type="http://schemas.openxmlformats.org/officeDocument/2006/relationships/tags" Target="../tags/tag231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35.xml"/><Relationship Id="rId2" Type="http://schemas.openxmlformats.org/officeDocument/2006/relationships/tags" Target="../tags/tag234.xml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" Type="http://schemas.openxmlformats.org/officeDocument/2006/relationships/tags" Target="../tags/tag242.xml"/><Relationship Id="rId7" Type="http://schemas.openxmlformats.org/officeDocument/2006/relationships/tags" Target="../tags/tag241.xml"/><Relationship Id="rId6" Type="http://schemas.openxmlformats.org/officeDocument/2006/relationships/tags" Target="../tags/tag240.xml"/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8" Type="http://schemas.openxmlformats.org/officeDocument/2006/relationships/notesSlide" Target="../notesSlides/notesSlide17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250.xml"/><Relationship Id="rId15" Type="http://schemas.openxmlformats.org/officeDocument/2006/relationships/tags" Target="../tags/tag249.xml"/><Relationship Id="rId14" Type="http://schemas.openxmlformats.org/officeDocument/2006/relationships/tags" Target="../tags/tag248.xml"/><Relationship Id="rId13" Type="http://schemas.openxmlformats.org/officeDocument/2006/relationships/tags" Target="../tags/tag247.xml"/><Relationship Id="rId12" Type="http://schemas.openxmlformats.org/officeDocument/2006/relationships/tags" Target="../tags/tag246.xml"/><Relationship Id="rId11" Type="http://schemas.openxmlformats.org/officeDocument/2006/relationships/tags" Target="../tags/tag245.xml"/><Relationship Id="rId10" Type="http://schemas.openxmlformats.org/officeDocument/2006/relationships/tags" Target="../tags/tag244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 descr="VCG21128005867512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4445" y="0"/>
            <a:ext cx="12160885" cy="685736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"/>
            </p:custDataLst>
          </p:nvPr>
        </p:nvSpPr>
        <p:spPr>
          <a:xfrm>
            <a:off x="557848" y="635000"/>
            <a:ext cx="736536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4800">
                <a:solidFill>
                  <a:schemeClr val="accent6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JAVA PROGRAMMING FUNDAMENTALS</a:t>
            </a:r>
            <a:endParaRPr lang="en-US" altLang="en-US" sz="4800">
              <a:solidFill>
                <a:schemeClr val="accent6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  <a:p>
            <a:pPr algn="l"/>
            <a:endParaRPr lang="en-US" altLang="en-US" sz="4800">
              <a:solidFill>
                <a:schemeClr val="accent6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2700655" y="2497455"/>
            <a:ext cx="736536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4000">
                <a:ln>
                  <a:noFill/>
                </a:ln>
                <a:solidFill>
                  <a:schemeClr val="bg1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Code Review &amp; Object-Oriented Programming</a:t>
            </a:r>
            <a:endParaRPr lang="en-US" altLang="en-US" sz="4000">
              <a:ln>
                <a:noFill/>
              </a:ln>
              <a:solidFill>
                <a:schemeClr val="bg1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  <a:p>
            <a:pPr algn="ctr"/>
            <a:endParaRPr lang="en-US" altLang="en-US" sz="4000">
              <a:ln>
                <a:noFill/>
              </a:ln>
              <a:solidFill>
                <a:schemeClr val="bg1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</p:txBody>
      </p:sp>
      <p:sp>
        <p:nvSpPr>
          <p:cNvPr id="22" name="任意多边形: 形状 14"/>
          <p:cNvSpPr/>
          <p:nvPr>
            <p:custDataLst>
              <p:tags r:id="rId4"/>
            </p:custDataLst>
          </p:nvPr>
        </p:nvSpPr>
        <p:spPr>
          <a:xfrm>
            <a:off x="2377516" y="4206476"/>
            <a:ext cx="7438409" cy="110315"/>
          </a:xfrm>
          <a:custGeom>
            <a:avLst/>
            <a:gdLst>
              <a:gd name="connsiteX0" fmla="*/ 0 w 10926501"/>
              <a:gd name="connsiteY0" fmla="*/ 0 h 162045"/>
              <a:gd name="connsiteX1" fmla="*/ 3761772 w 10926501"/>
              <a:gd name="connsiteY1" fmla="*/ 0 h 162045"/>
              <a:gd name="connsiteX2" fmla="*/ 3923817 w 10926501"/>
              <a:gd name="connsiteY2" fmla="*/ 162045 h 162045"/>
              <a:gd name="connsiteX3" fmla="*/ 6979534 w 10926501"/>
              <a:gd name="connsiteY3" fmla="*/ 162045 h 162045"/>
              <a:gd name="connsiteX4" fmla="*/ 7141579 w 10926501"/>
              <a:gd name="connsiteY4" fmla="*/ 0 h 162045"/>
              <a:gd name="connsiteX5" fmla="*/ 10926501 w 10926501"/>
              <a:gd name="connsiteY5" fmla="*/ 0 h 16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6501" h="162045">
                <a:moveTo>
                  <a:pt x="0" y="0"/>
                </a:moveTo>
                <a:lnTo>
                  <a:pt x="3761772" y="0"/>
                </a:lnTo>
                <a:lnTo>
                  <a:pt x="3923817" y="162045"/>
                </a:lnTo>
                <a:lnTo>
                  <a:pt x="6979534" y="162045"/>
                </a:lnTo>
                <a:lnTo>
                  <a:pt x="7141579" y="0"/>
                </a:lnTo>
                <a:lnTo>
                  <a:pt x="10926501" y="0"/>
                </a:lnTo>
              </a:path>
            </a:pathLst>
          </a:custGeom>
          <a:noFill/>
          <a:ln w="38100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1" name="任意多边形: 形状 138"/>
          <p:cNvSpPr/>
          <p:nvPr>
            <p:custDataLst>
              <p:tags r:id="rId5"/>
            </p:custDataLst>
          </p:nvPr>
        </p:nvSpPr>
        <p:spPr>
          <a:xfrm>
            <a:off x="308610" y="503873"/>
            <a:ext cx="11576685" cy="585025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5" name="任意多边形: 形状 21"/>
          <p:cNvSpPr/>
          <p:nvPr>
            <p:custDataLst>
              <p:tags r:id="rId6"/>
            </p:custDataLst>
          </p:nvPr>
        </p:nvSpPr>
        <p:spPr>
          <a:xfrm rot="16200000" flipV="1">
            <a:off x="-2199640" y="3370898"/>
            <a:ext cx="4707890" cy="116205"/>
          </a:xfrm>
          <a:custGeom>
            <a:avLst/>
            <a:gdLst>
              <a:gd name="connsiteX0" fmla="*/ 0 w 3238500"/>
              <a:gd name="connsiteY0" fmla="*/ 118110 h 118110"/>
              <a:gd name="connsiteX1" fmla="*/ 118110 w 3238500"/>
              <a:gd name="connsiteY1" fmla="*/ 0 h 118110"/>
              <a:gd name="connsiteX2" fmla="*/ 3124200 w 3238500"/>
              <a:gd name="connsiteY2" fmla="*/ 0 h 118110"/>
              <a:gd name="connsiteX3" fmla="*/ 3238500 w 3238500"/>
              <a:gd name="connsiteY3" fmla="*/ 114300 h 11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18110">
                <a:moveTo>
                  <a:pt x="0" y="118110"/>
                </a:moveTo>
                <a:lnTo>
                  <a:pt x="118110" y="0"/>
                </a:lnTo>
                <a:lnTo>
                  <a:pt x="3124200" y="0"/>
                </a:lnTo>
                <a:lnTo>
                  <a:pt x="3238500" y="114300"/>
                </a:lnTo>
              </a:path>
            </a:pathLst>
          </a:custGeom>
          <a:noFill/>
          <a:ln w="9525">
            <a:solidFill>
              <a:schemeClr val="accent1">
                <a:alpha val="70000"/>
              </a:schemeClr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317818" y="176530"/>
            <a:ext cx="11556365" cy="135890"/>
            <a:chOff x="625" y="278"/>
            <a:chExt cx="18199" cy="214"/>
          </a:xfrm>
        </p:grpSpPr>
        <p:sp>
          <p:nvSpPr>
            <p:cNvPr id="24" name="任意多边形: 形状 21"/>
            <p:cNvSpPr/>
            <p:nvPr>
              <p:custDataLst>
                <p:tags r:id="rId7"/>
              </p:custDataLst>
            </p:nvPr>
          </p:nvSpPr>
          <p:spPr>
            <a:xfrm flipV="1">
              <a:off x="7028" y="278"/>
              <a:ext cx="5889" cy="215"/>
            </a:xfrm>
            <a:custGeom>
              <a:avLst/>
              <a:gdLst>
                <a:gd name="connsiteX0" fmla="*/ 0 w 3238500"/>
                <a:gd name="connsiteY0" fmla="*/ 118110 h 118110"/>
                <a:gd name="connsiteX1" fmla="*/ 118110 w 3238500"/>
                <a:gd name="connsiteY1" fmla="*/ 0 h 118110"/>
                <a:gd name="connsiteX2" fmla="*/ 3124200 w 3238500"/>
                <a:gd name="connsiteY2" fmla="*/ 0 h 118110"/>
                <a:gd name="connsiteX3" fmla="*/ 3238500 w 3238500"/>
                <a:gd name="connsiteY3" fmla="*/ 114300 h 11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8500" h="118110">
                  <a:moveTo>
                    <a:pt x="0" y="118110"/>
                  </a:moveTo>
                  <a:lnTo>
                    <a:pt x="118110" y="0"/>
                  </a:lnTo>
                  <a:lnTo>
                    <a:pt x="3124200" y="0"/>
                  </a:lnTo>
                  <a:lnTo>
                    <a:pt x="3238500" y="11430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headEnd type="oval" w="sm" len="sm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cxnSp>
          <p:nvCxnSpPr>
            <p:cNvPr id="9" name="直接连接符 8"/>
            <p:cNvCxnSpPr/>
            <p:nvPr>
              <p:custDataLst>
                <p:tags r:id="rId8"/>
              </p:custDataLst>
            </p:nvPr>
          </p:nvCxnSpPr>
          <p:spPr>
            <a:xfrm flipH="1" flipV="1">
              <a:off x="625" y="278"/>
              <a:ext cx="6402" cy="4"/>
            </a:xfrm>
            <a:prstGeom prst="line">
              <a:avLst/>
            </a:prstGeom>
            <a:ln>
              <a:gradFill>
                <a:gsLst>
                  <a:gs pos="0">
                    <a:srgbClr val="4675FC"/>
                  </a:gs>
                  <a:gs pos="49000">
                    <a:srgbClr val="4675FC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>
              <p:custDataLst>
                <p:tags r:id="rId9"/>
              </p:custDataLst>
            </p:nvPr>
          </p:nvCxnSpPr>
          <p:spPr>
            <a:xfrm flipH="1" flipV="1">
              <a:off x="12954" y="278"/>
              <a:ext cx="5871" cy="68"/>
            </a:xfrm>
            <a:prstGeom prst="line">
              <a:avLst/>
            </a:prstGeom>
            <a:ln>
              <a:gradFill>
                <a:gsLst>
                  <a:gs pos="39000">
                    <a:srgbClr val="4675FC">
                      <a:alpha val="0"/>
                    </a:srgbClr>
                  </a:gs>
                  <a:gs pos="55000">
                    <a:srgbClr val="4675FC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/>
          <p:cNvGrpSpPr/>
          <p:nvPr/>
        </p:nvGrpSpPr>
        <p:grpSpPr>
          <a:xfrm rot="10800000">
            <a:off x="317818" y="6526530"/>
            <a:ext cx="11556365" cy="135890"/>
            <a:chOff x="625" y="278"/>
            <a:chExt cx="18199" cy="214"/>
          </a:xfrm>
        </p:grpSpPr>
        <p:sp>
          <p:nvSpPr>
            <p:cNvPr id="32" name="任意多边形: 形状 21"/>
            <p:cNvSpPr/>
            <p:nvPr>
              <p:custDataLst>
                <p:tags r:id="rId10"/>
              </p:custDataLst>
            </p:nvPr>
          </p:nvSpPr>
          <p:spPr>
            <a:xfrm flipV="1">
              <a:off x="7028" y="278"/>
              <a:ext cx="5889" cy="215"/>
            </a:xfrm>
            <a:custGeom>
              <a:avLst/>
              <a:gdLst>
                <a:gd name="connsiteX0" fmla="*/ 0 w 3238500"/>
                <a:gd name="connsiteY0" fmla="*/ 118110 h 118110"/>
                <a:gd name="connsiteX1" fmla="*/ 118110 w 3238500"/>
                <a:gd name="connsiteY1" fmla="*/ 0 h 118110"/>
                <a:gd name="connsiteX2" fmla="*/ 3124200 w 3238500"/>
                <a:gd name="connsiteY2" fmla="*/ 0 h 118110"/>
                <a:gd name="connsiteX3" fmla="*/ 3238500 w 3238500"/>
                <a:gd name="connsiteY3" fmla="*/ 114300 h 11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8500" h="118110">
                  <a:moveTo>
                    <a:pt x="0" y="118110"/>
                  </a:moveTo>
                  <a:lnTo>
                    <a:pt x="118110" y="0"/>
                  </a:lnTo>
                  <a:lnTo>
                    <a:pt x="3124200" y="0"/>
                  </a:lnTo>
                  <a:lnTo>
                    <a:pt x="3238500" y="11430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headEnd type="oval" w="sm" len="sm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cxnSp>
          <p:nvCxnSpPr>
            <p:cNvPr id="34" name="直接连接符 33"/>
            <p:cNvCxnSpPr/>
            <p:nvPr>
              <p:custDataLst>
                <p:tags r:id="rId11"/>
              </p:custDataLst>
            </p:nvPr>
          </p:nvCxnSpPr>
          <p:spPr>
            <a:xfrm flipH="1" flipV="1">
              <a:off x="625" y="278"/>
              <a:ext cx="6402" cy="4"/>
            </a:xfrm>
            <a:prstGeom prst="line">
              <a:avLst/>
            </a:prstGeom>
            <a:ln>
              <a:gradFill>
                <a:gsLst>
                  <a:gs pos="0">
                    <a:srgbClr val="4675FC"/>
                  </a:gs>
                  <a:gs pos="49000">
                    <a:srgbClr val="4675FC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12"/>
              </p:custDataLst>
            </p:nvPr>
          </p:nvCxnSpPr>
          <p:spPr>
            <a:xfrm flipH="1" flipV="1">
              <a:off x="12954" y="278"/>
              <a:ext cx="5871" cy="68"/>
            </a:xfrm>
            <a:prstGeom prst="line">
              <a:avLst/>
            </a:prstGeom>
            <a:ln>
              <a:gradFill>
                <a:gsLst>
                  <a:gs pos="39000">
                    <a:srgbClr val="4675FC">
                      <a:alpha val="0"/>
                    </a:srgbClr>
                  </a:gs>
                  <a:gs pos="55000">
                    <a:srgbClr val="4675FC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任意多边形: 形状 21"/>
          <p:cNvSpPr/>
          <p:nvPr>
            <p:custDataLst>
              <p:tags r:id="rId13"/>
            </p:custDataLst>
          </p:nvPr>
        </p:nvSpPr>
        <p:spPr>
          <a:xfrm rot="5400000" flipH="1" flipV="1">
            <a:off x="9685655" y="3370898"/>
            <a:ext cx="4707890" cy="116205"/>
          </a:xfrm>
          <a:custGeom>
            <a:avLst/>
            <a:gdLst>
              <a:gd name="connsiteX0" fmla="*/ 0 w 3238500"/>
              <a:gd name="connsiteY0" fmla="*/ 118110 h 118110"/>
              <a:gd name="connsiteX1" fmla="*/ 118110 w 3238500"/>
              <a:gd name="connsiteY1" fmla="*/ 0 h 118110"/>
              <a:gd name="connsiteX2" fmla="*/ 3124200 w 3238500"/>
              <a:gd name="connsiteY2" fmla="*/ 0 h 118110"/>
              <a:gd name="connsiteX3" fmla="*/ 3238500 w 3238500"/>
              <a:gd name="connsiteY3" fmla="*/ 114300 h 11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18110">
                <a:moveTo>
                  <a:pt x="0" y="118110"/>
                </a:moveTo>
                <a:lnTo>
                  <a:pt x="118110" y="0"/>
                </a:lnTo>
                <a:lnTo>
                  <a:pt x="3124200" y="0"/>
                </a:lnTo>
                <a:lnTo>
                  <a:pt x="3238500" y="114300"/>
                </a:lnTo>
              </a:path>
            </a:pathLst>
          </a:custGeom>
          <a:noFill/>
          <a:ln w="9525">
            <a:solidFill>
              <a:schemeClr val="accent1">
                <a:alpha val="70000"/>
              </a:schemeClr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37235" y="4666615"/>
            <a:ext cx="5200650" cy="1311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solidFill>
                  <a:schemeClr val="bg1">
                    <a:lumMod val="95000"/>
                  </a:schemeClr>
                </a:solidFill>
              </a:rPr>
              <a:t>Presented by: </a:t>
            </a:r>
            <a:r>
              <a:rPr lang="en-IN" altLang="en-US">
                <a:solidFill>
                  <a:schemeClr val="bg1">
                    <a:lumMod val="95000"/>
                  </a:schemeClr>
                </a:solidFill>
              </a:rPr>
              <a:t>Bappi Raman Singh</a:t>
            </a:r>
            <a:endParaRPr lang="en-US" altLang="en-US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>
                <a:solidFill>
                  <a:schemeClr val="bg1">
                    <a:lumMod val="95000"/>
                  </a:schemeClr>
                </a:solidFill>
              </a:rPr>
              <a:t>Java Intern - Vaults of Codes</a:t>
            </a:r>
            <a:endParaRPr lang="en-US" altLang="en-US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>
                <a:solidFill>
                  <a:schemeClr val="bg1">
                    <a:lumMod val="95000"/>
                  </a:schemeClr>
                </a:solidFill>
              </a:rPr>
              <a:t>Date: </a:t>
            </a:r>
            <a:r>
              <a:rPr lang="en-IN" altLang="en-US">
                <a:solidFill>
                  <a:schemeClr val="bg1">
                    <a:lumMod val="95000"/>
                  </a:schemeClr>
                </a:solidFill>
              </a:rPr>
              <a:t>09/11/2025</a:t>
            </a:r>
            <a:endParaRPr lang="en-IN" altLang="en-US">
              <a:solidFill>
                <a:schemeClr val="bg1">
                  <a:lumMod val="95000"/>
                </a:schemeClr>
              </a:solidFill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 descr="VCG211280058674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 rot="10800000">
            <a:off x="0" y="0"/>
            <a:ext cx="12192635" cy="6858000"/>
          </a:xfrm>
          <a:prstGeom prst="rect">
            <a:avLst/>
          </a:prstGeom>
        </p:spPr>
      </p:pic>
      <p:sp>
        <p:nvSpPr>
          <p:cNvPr id="3" name="任意多边形: 形状 14"/>
          <p:cNvSpPr/>
          <p:nvPr>
            <p:custDataLst>
              <p:tags r:id="rId2"/>
            </p:custDataLst>
          </p:nvPr>
        </p:nvSpPr>
        <p:spPr>
          <a:xfrm>
            <a:off x="2376796" y="1261981"/>
            <a:ext cx="7438409" cy="110315"/>
          </a:xfrm>
          <a:custGeom>
            <a:avLst/>
            <a:gdLst>
              <a:gd name="connsiteX0" fmla="*/ 0 w 10926501"/>
              <a:gd name="connsiteY0" fmla="*/ 0 h 162045"/>
              <a:gd name="connsiteX1" fmla="*/ 3761772 w 10926501"/>
              <a:gd name="connsiteY1" fmla="*/ 0 h 162045"/>
              <a:gd name="connsiteX2" fmla="*/ 3923817 w 10926501"/>
              <a:gd name="connsiteY2" fmla="*/ 162045 h 162045"/>
              <a:gd name="connsiteX3" fmla="*/ 6979534 w 10926501"/>
              <a:gd name="connsiteY3" fmla="*/ 162045 h 162045"/>
              <a:gd name="connsiteX4" fmla="*/ 7141579 w 10926501"/>
              <a:gd name="connsiteY4" fmla="*/ 0 h 162045"/>
              <a:gd name="connsiteX5" fmla="*/ 10926501 w 10926501"/>
              <a:gd name="connsiteY5" fmla="*/ 0 h 16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6501" h="162045">
                <a:moveTo>
                  <a:pt x="0" y="0"/>
                </a:moveTo>
                <a:lnTo>
                  <a:pt x="3761772" y="0"/>
                </a:lnTo>
                <a:lnTo>
                  <a:pt x="3923817" y="162045"/>
                </a:lnTo>
                <a:lnTo>
                  <a:pt x="6979534" y="162045"/>
                </a:lnTo>
                <a:lnTo>
                  <a:pt x="7141579" y="0"/>
                </a:lnTo>
                <a:lnTo>
                  <a:pt x="10926501" y="0"/>
                </a:lnTo>
              </a:path>
            </a:pathLst>
          </a:custGeom>
          <a:noFill/>
          <a:ln w="19050">
            <a:gradFill>
              <a:gsLst>
                <a:gs pos="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5" name="组合 4"/>
          <p:cNvGrpSpPr/>
          <p:nvPr>
            <p:custDataLst>
              <p:tags r:id="rId3"/>
            </p:custDataLst>
          </p:nvPr>
        </p:nvGrpSpPr>
        <p:grpSpPr>
          <a:xfrm>
            <a:off x="377825" y="1706880"/>
            <a:ext cx="3560445" cy="1492250"/>
            <a:chOff x="1182" y="2068"/>
            <a:chExt cx="5607" cy="2350"/>
          </a:xfrm>
        </p:grpSpPr>
        <p:sp>
          <p:nvSpPr>
            <p:cNvPr id="8" name="文本框 7"/>
            <p:cNvSpPr txBox="1"/>
            <p:nvPr>
              <p:custDataLst>
                <p:tags r:id="rId4"/>
              </p:custDataLst>
            </p:nvPr>
          </p:nvSpPr>
          <p:spPr>
            <a:xfrm flipH="1">
              <a:off x="2248" y="2068"/>
              <a:ext cx="3927" cy="2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0" i="1" dirty="0">
                  <a:ln>
                    <a:gradFill>
                      <a:gsLst>
                        <a:gs pos="0">
                          <a:schemeClr val="bg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51000">
                          <a:schemeClr val="bg1"/>
                        </a:gs>
                      </a:gsLst>
                      <a:lin ang="5400000" scaled="1"/>
                    </a:gradFill>
                  </a:ln>
                  <a:noFill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rPr>
                <a:t>01</a:t>
              </a:r>
              <a:endParaRPr lang="en-US" altLang="zh-CN" sz="8000" i="1" dirty="0">
                <a:ln>
                  <a:gradFill>
                    <a:gsLst>
                      <a:gs pos="0">
                        <a:schemeClr val="bg1"/>
                      </a:gs>
                      <a:gs pos="56000">
                        <a:srgbClr val="FFFFFF">
                          <a:alpha val="0"/>
                        </a:srgbClr>
                      </a:gs>
                      <a:gs pos="51000">
                        <a:schemeClr val="bg1"/>
                      </a:gs>
                    </a:gsLst>
                    <a:lin ang="5400000" scaled="1"/>
                  </a:gradFill>
                </a:ln>
                <a:noFill/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1182" y="3211"/>
              <a:ext cx="5607" cy="1207"/>
              <a:chOff x="1279" y="3137"/>
              <a:chExt cx="5607" cy="1299"/>
            </a:xfrm>
          </p:grpSpPr>
          <p:sp>
            <p:nvSpPr>
              <p:cNvPr id="64" name="平行四边形 63"/>
              <p:cNvSpPr/>
              <p:nvPr>
                <p:custDataLst>
                  <p:tags r:id="rId5"/>
                </p:custDataLst>
              </p:nvPr>
            </p:nvSpPr>
            <p:spPr>
              <a:xfrm rot="10800000">
                <a:off x="1635" y="3137"/>
                <a:ext cx="5251" cy="1109"/>
              </a:xfrm>
              <a:prstGeom prst="parallelogram">
                <a:avLst>
                  <a:gd name="adj" fmla="val 68862"/>
                </a:avLst>
              </a:prstGeom>
              <a:noFill/>
              <a:ln w="25400">
                <a:gradFill flip="none" rotWithShape="1">
                  <a:gsLst>
                    <a:gs pos="200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>
                  <a:solidFill>
                    <a:schemeClr val="lt1"/>
                  </a:solidFill>
                  <a:cs typeface="Inter" panose="02000503000000020004" charset="0"/>
                </a:endParaRPr>
              </a:p>
            </p:txBody>
          </p:sp>
          <p:sp>
            <p:nvSpPr>
              <p:cNvPr id="63" name="平行四边形 62"/>
              <p:cNvSpPr/>
              <p:nvPr>
                <p:custDataLst>
                  <p:tags r:id="rId6"/>
                </p:custDataLst>
              </p:nvPr>
            </p:nvSpPr>
            <p:spPr>
              <a:xfrm rot="10800000">
                <a:off x="1279" y="3310"/>
                <a:ext cx="5242" cy="1126"/>
              </a:xfrm>
              <a:prstGeom prst="parallelogram">
                <a:avLst>
                  <a:gd name="adj" fmla="val 68862"/>
                </a:avLst>
              </a:prstGeom>
              <a:noFill/>
              <a:ln w="25400">
                <a:gradFill>
                  <a:gsLst>
                    <a:gs pos="2000">
                      <a:schemeClr val="accent1">
                        <a:alpha val="0"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lt1"/>
                  </a:solidFill>
                  <a:cs typeface="Inter" panose="02000503000000020004" charset="0"/>
                </a:endParaRPr>
              </a:p>
            </p:txBody>
          </p:sp>
        </p:grpSp>
        <p:sp>
          <p:nvSpPr>
            <p:cNvPr id="65" name="文本框 64"/>
            <p:cNvSpPr txBox="1"/>
            <p:nvPr>
              <p:custDataLst>
                <p:tags r:id="rId7"/>
              </p:custDataLst>
            </p:nvPr>
          </p:nvSpPr>
          <p:spPr>
            <a:xfrm flipH="1">
              <a:off x="2250" y="3440"/>
              <a:ext cx="4023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US" sz="1600" i="1" dirty="0">
                  <a:solidFill>
                    <a:schemeClr val="lt1"/>
                  </a:solidFill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rPr>
                <a:t>Introduction to Java</a:t>
              </a:r>
              <a:endParaRPr lang="en-US" altLang="en-US" sz="1600" i="1" dirty="0">
                <a:solidFill>
                  <a:schemeClr val="lt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endParaRPr>
            </a:p>
            <a:p>
              <a:pPr algn="ctr"/>
              <a:endParaRPr lang="en-US" altLang="en-US" sz="1600" i="1" dirty="0">
                <a:solidFill>
                  <a:schemeClr val="lt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8"/>
            </p:custDataLst>
          </p:nvPr>
        </p:nvSpPr>
        <p:spPr>
          <a:xfrm>
            <a:off x="2317115" y="238760"/>
            <a:ext cx="678434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4400" i="1">
                <a:solidFill>
                  <a:schemeClr val="lt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📋</a:t>
            </a:r>
            <a:r>
              <a:rPr lang="en-US" altLang="en-US" sz="4400" i="1">
                <a:solidFill>
                  <a:schemeClr val="lt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 Today's Agenda</a:t>
            </a:r>
            <a:endParaRPr lang="en-US" altLang="en-US" sz="4400" i="1">
              <a:solidFill>
                <a:schemeClr val="lt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algn="ctr">
              <a:buClrTx/>
              <a:buSzTx/>
              <a:buFontTx/>
            </a:pPr>
            <a:endParaRPr lang="en-US" altLang="en-US" sz="4400" i="1">
              <a:solidFill>
                <a:schemeClr val="lt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 flipH="1">
            <a:off x="4992370" y="1706880"/>
            <a:ext cx="24936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0" i="1" dirty="0">
                <a:ln>
                  <a:gradFill>
                    <a:gsLst>
                      <a:gs pos="0">
                        <a:schemeClr val="bg1"/>
                      </a:gs>
                      <a:gs pos="56000">
                        <a:srgbClr val="FFFFFF">
                          <a:alpha val="0"/>
                        </a:srgbClr>
                      </a:gs>
                      <a:gs pos="51000">
                        <a:schemeClr val="bg1"/>
                      </a:gs>
                    </a:gsLst>
                    <a:lin ang="5400000" scaled="1"/>
                  </a:gradFill>
                </a:ln>
                <a:noFill/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02</a:t>
            </a:r>
            <a:endParaRPr lang="en-US" altLang="zh-CN" sz="8000" i="1" dirty="0">
              <a:ln>
                <a:gradFill>
                  <a:gsLst>
                    <a:gs pos="0">
                      <a:schemeClr val="bg1"/>
                    </a:gs>
                    <a:gs pos="56000">
                      <a:srgbClr val="FFFFFF">
                        <a:alpha val="0"/>
                      </a:srgbClr>
                    </a:gs>
                    <a:gs pos="51000">
                      <a:schemeClr val="bg1"/>
                    </a:gs>
                  </a:gsLst>
                  <a:lin ang="5400000" scaled="1"/>
                </a:gradFill>
              </a:ln>
              <a:noFill/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12" name="组合 11"/>
          <p:cNvGrpSpPr/>
          <p:nvPr>
            <p:custDataLst>
              <p:tags r:id="rId10"/>
            </p:custDataLst>
          </p:nvPr>
        </p:nvGrpSpPr>
        <p:grpSpPr>
          <a:xfrm rot="0">
            <a:off x="4315460" y="2432685"/>
            <a:ext cx="3560445" cy="766445"/>
            <a:chOff x="1279" y="3137"/>
            <a:chExt cx="5607" cy="1299"/>
          </a:xfrm>
        </p:grpSpPr>
        <p:sp>
          <p:nvSpPr>
            <p:cNvPr id="13" name="平行四边形 12"/>
            <p:cNvSpPr/>
            <p:nvPr>
              <p:custDataLst>
                <p:tags r:id="rId11"/>
              </p:custDataLst>
            </p:nvPr>
          </p:nvSpPr>
          <p:spPr>
            <a:xfrm rot="10800000">
              <a:off x="1635" y="3137"/>
              <a:ext cx="5251" cy="1109"/>
            </a:xfrm>
            <a:prstGeom prst="parallelogram">
              <a:avLst>
                <a:gd name="adj" fmla="val 68862"/>
              </a:avLst>
            </a:prstGeom>
            <a:noFill/>
            <a:ln w="25400">
              <a:gradFill flip="none" rotWithShape="1">
                <a:gsLst>
                  <a:gs pos="200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>
              <p:custDataLst>
                <p:tags r:id="rId12"/>
              </p:custDataLst>
            </p:nvPr>
          </p:nvSpPr>
          <p:spPr>
            <a:xfrm rot="10800000">
              <a:off x="1279" y="3310"/>
              <a:ext cx="5242" cy="1126"/>
            </a:xfrm>
            <a:prstGeom prst="parallelogram">
              <a:avLst>
                <a:gd name="adj" fmla="val 68862"/>
              </a:avLst>
            </a:prstGeom>
            <a:noFill/>
            <a:ln w="25400">
              <a:gradFill>
                <a:gsLst>
                  <a:gs pos="2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</p:grp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 flipH="1">
            <a:off x="4930140" y="2571115"/>
            <a:ext cx="24936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1600" i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Common Code Errors &amp; Solutions</a:t>
            </a:r>
            <a:endParaRPr lang="en-US" altLang="en-US" sz="1600" i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algn="ctr"/>
            <a:endParaRPr lang="en-US" altLang="en-US" sz="1600" i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 flipH="1">
            <a:off x="8930005" y="1706880"/>
            <a:ext cx="24936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0" i="1" dirty="0">
                <a:ln>
                  <a:gradFill>
                    <a:gsLst>
                      <a:gs pos="0">
                        <a:schemeClr val="bg1"/>
                      </a:gs>
                      <a:gs pos="56000">
                        <a:srgbClr val="FFFFFF">
                          <a:alpha val="0"/>
                        </a:srgbClr>
                      </a:gs>
                      <a:gs pos="51000">
                        <a:schemeClr val="bg1"/>
                      </a:gs>
                    </a:gsLst>
                    <a:lin ang="5400000" scaled="1"/>
                  </a:gradFill>
                </a:ln>
                <a:noFill/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03</a:t>
            </a:r>
            <a:endParaRPr lang="en-US" altLang="zh-CN" sz="8000" i="1" dirty="0">
              <a:ln>
                <a:gradFill>
                  <a:gsLst>
                    <a:gs pos="0">
                      <a:schemeClr val="bg1"/>
                    </a:gs>
                    <a:gs pos="56000">
                      <a:srgbClr val="FFFFFF">
                        <a:alpha val="0"/>
                      </a:srgbClr>
                    </a:gs>
                    <a:gs pos="51000">
                      <a:schemeClr val="bg1"/>
                    </a:gs>
                  </a:gsLst>
                  <a:lin ang="5400000" scaled="1"/>
                </a:gradFill>
              </a:ln>
              <a:noFill/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18" name="组合 17"/>
          <p:cNvGrpSpPr/>
          <p:nvPr>
            <p:custDataLst>
              <p:tags r:id="rId15"/>
            </p:custDataLst>
          </p:nvPr>
        </p:nvGrpSpPr>
        <p:grpSpPr>
          <a:xfrm rot="0">
            <a:off x="8253095" y="2432685"/>
            <a:ext cx="3560445" cy="766445"/>
            <a:chOff x="1279" y="3137"/>
            <a:chExt cx="5607" cy="1299"/>
          </a:xfrm>
        </p:grpSpPr>
        <p:sp>
          <p:nvSpPr>
            <p:cNvPr id="19" name="平行四边形 18"/>
            <p:cNvSpPr/>
            <p:nvPr>
              <p:custDataLst>
                <p:tags r:id="rId16"/>
              </p:custDataLst>
            </p:nvPr>
          </p:nvSpPr>
          <p:spPr>
            <a:xfrm rot="10800000">
              <a:off x="1635" y="3137"/>
              <a:ext cx="5251" cy="1109"/>
            </a:xfrm>
            <a:prstGeom prst="parallelogram">
              <a:avLst>
                <a:gd name="adj" fmla="val 68862"/>
              </a:avLst>
            </a:prstGeom>
            <a:noFill/>
            <a:ln w="25400">
              <a:gradFill flip="none" rotWithShape="1">
                <a:gsLst>
                  <a:gs pos="200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sp>
          <p:nvSpPr>
            <p:cNvPr id="20" name="平行四边形 19"/>
            <p:cNvSpPr/>
            <p:nvPr>
              <p:custDataLst>
                <p:tags r:id="rId17"/>
              </p:custDataLst>
            </p:nvPr>
          </p:nvSpPr>
          <p:spPr>
            <a:xfrm rot="10800000">
              <a:off x="1279" y="3310"/>
              <a:ext cx="5242" cy="1126"/>
            </a:xfrm>
            <a:prstGeom prst="parallelogram">
              <a:avLst>
                <a:gd name="adj" fmla="val 68862"/>
              </a:avLst>
            </a:prstGeom>
            <a:noFill/>
            <a:ln w="25400">
              <a:gradFill>
                <a:gsLst>
                  <a:gs pos="2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</p:grp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 flipH="1">
            <a:off x="8867775" y="2571115"/>
            <a:ext cx="249364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1600" i="1">
                <a:ln>
                  <a:noFill/>
                </a:ln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Object-Oriented Programming Principles</a:t>
            </a:r>
            <a:endParaRPr lang="en-US" altLang="en-US" sz="1600" i="1">
              <a:ln>
                <a:noFill/>
              </a:ln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algn="ctr"/>
            <a:endParaRPr lang="en-US" altLang="en-US" sz="1600" i="1">
              <a:ln>
                <a:noFill/>
              </a:ln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19"/>
            </p:custDataLst>
          </p:nvPr>
        </p:nvSpPr>
        <p:spPr>
          <a:xfrm flipH="1">
            <a:off x="5490845" y="3926205"/>
            <a:ext cx="24936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0" i="1" dirty="0">
                <a:ln>
                  <a:gradFill>
                    <a:gsLst>
                      <a:gs pos="0">
                        <a:schemeClr val="bg1"/>
                      </a:gs>
                      <a:gs pos="56000">
                        <a:srgbClr val="FFFFFF">
                          <a:alpha val="0"/>
                        </a:srgbClr>
                      </a:gs>
                      <a:gs pos="51000">
                        <a:schemeClr val="bg1"/>
                      </a:gs>
                    </a:gsLst>
                    <a:lin ang="5400000" scaled="1"/>
                  </a:gradFill>
                </a:ln>
                <a:noFill/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04</a:t>
            </a:r>
            <a:endParaRPr lang="en-US" altLang="zh-CN" sz="8000" i="1" dirty="0">
              <a:ln>
                <a:gradFill>
                  <a:gsLst>
                    <a:gs pos="0">
                      <a:schemeClr val="bg1"/>
                    </a:gs>
                    <a:gs pos="56000">
                      <a:srgbClr val="FFFFFF">
                        <a:alpha val="0"/>
                      </a:srgbClr>
                    </a:gs>
                    <a:gs pos="51000">
                      <a:schemeClr val="bg1"/>
                    </a:gs>
                  </a:gsLst>
                  <a:lin ang="5400000" scaled="1"/>
                </a:gradFill>
              </a:ln>
              <a:noFill/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24" name="组合 23"/>
          <p:cNvGrpSpPr/>
          <p:nvPr>
            <p:custDataLst>
              <p:tags r:id="rId20"/>
            </p:custDataLst>
          </p:nvPr>
        </p:nvGrpSpPr>
        <p:grpSpPr>
          <a:xfrm rot="0">
            <a:off x="4979035" y="4818380"/>
            <a:ext cx="3560445" cy="766445"/>
            <a:chOff x="1279" y="3137"/>
            <a:chExt cx="5607" cy="1299"/>
          </a:xfrm>
        </p:grpSpPr>
        <p:sp>
          <p:nvSpPr>
            <p:cNvPr id="25" name="平行四边形 24"/>
            <p:cNvSpPr/>
            <p:nvPr>
              <p:custDataLst>
                <p:tags r:id="rId21"/>
              </p:custDataLst>
            </p:nvPr>
          </p:nvSpPr>
          <p:spPr>
            <a:xfrm rot="10800000">
              <a:off x="1635" y="3137"/>
              <a:ext cx="5251" cy="1109"/>
            </a:xfrm>
            <a:prstGeom prst="parallelogram">
              <a:avLst>
                <a:gd name="adj" fmla="val 68862"/>
              </a:avLst>
            </a:prstGeom>
            <a:noFill/>
            <a:ln w="25400">
              <a:gradFill flip="none" rotWithShape="1">
                <a:gsLst>
                  <a:gs pos="200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22"/>
              </p:custDataLst>
            </p:nvPr>
          </p:nvSpPr>
          <p:spPr>
            <a:xfrm rot="10800000">
              <a:off x="1279" y="3310"/>
              <a:ext cx="5242" cy="1126"/>
            </a:xfrm>
            <a:prstGeom prst="parallelogram">
              <a:avLst>
                <a:gd name="adj" fmla="val 68862"/>
              </a:avLst>
            </a:prstGeom>
            <a:noFill/>
            <a:ln w="25400">
              <a:gradFill>
                <a:gsLst>
                  <a:gs pos="2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</p:grpSp>
      <p:sp>
        <p:nvSpPr>
          <p:cNvPr id="27" name="文本框 26"/>
          <p:cNvSpPr txBox="1"/>
          <p:nvPr>
            <p:custDataLst>
              <p:tags r:id="rId23"/>
            </p:custDataLst>
          </p:nvPr>
        </p:nvSpPr>
        <p:spPr>
          <a:xfrm flipH="1">
            <a:off x="5490845" y="4950460"/>
            <a:ext cx="24936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1600" i="1">
                <a:ln>
                  <a:noFill/>
                </a:ln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• Key Learnings &amp; Takeaways</a:t>
            </a:r>
            <a:endParaRPr lang="en-US" altLang="en-US" sz="1600" i="1">
              <a:ln>
                <a:noFill/>
              </a:ln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algn="ctr"/>
            <a:endParaRPr lang="en-US" altLang="en-US" sz="1600" i="1">
              <a:ln>
                <a:noFill/>
              </a:ln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VCG2112800586751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 flipH="1">
            <a:off x="4445" y="0"/>
            <a:ext cx="12183110" cy="6858000"/>
          </a:xfrm>
          <a:prstGeom prst="rect">
            <a:avLst/>
          </a:prstGeom>
        </p:spPr>
      </p:pic>
      <p:sp>
        <p:nvSpPr>
          <p:cNvPr id="55" name="半闭框 54"/>
          <p:cNvSpPr/>
          <p:nvPr/>
        </p:nvSpPr>
        <p:spPr>
          <a:xfrm rot="10800000" flipH="1" flipV="1">
            <a:off x="411554" y="28118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39" name="半闭框 38"/>
          <p:cNvSpPr/>
          <p:nvPr/>
        </p:nvSpPr>
        <p:spPr>
          <a:xfrm flipH="1" flipV="1">
            <a:off x="11538024" y="627177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81000" y="2009140"/>
            <a:ext cx="11430635" cy="3130550"/>
            <a:chOff x="264" y="3164"/>
            <a:chExt cx="18001" cy="4930"/>
          </a:xfrm>
        </p:grpSpPr>
        <p:grpSp>
          <p:nvGrpSpPr>
            <p:cNvPr id="25" name="组合 24"/>
            <p:cNvGrpSpPr/>
            <p:nvPr/>
          </p:nvGrpSpPr>
          <p:grpSpPr>
            <a:xfrm>
              <a:off x="264" y="3395"/>
              <a:ext cx="3779" cy="4010"/>
              <a:chOff x="264" y="3729"/>
              <a:chExt cx="3779" cy="4010"/>
            </a:xfrm>
          </p:grpSpPr>
          <p:cxnSp>
            <p:nvCxnSpPr>
              <p:cNvPr id="16" name="直接连接符 15"/>
              <p:cNvCxnSpPr/>
              <p:nvPr/>
            </p:nvCxnSpPr>
            <p:spPr>
              <a:xfrm flipH="1">
                <a:off x="1271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 flipH="1">
                <a:off x="264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/>
            <p:cNvGrpSpPr/>
            <p:nvPr/>
          </p:nvGrpSpPr>
          <p:grpSpPr>
            <a:xfrm>
              <a:off x="14486" y="3395"/>
              <a:ext cx="3779" cy="4010"/>
              <a:chOff x="14486" y="3395"/>
              <a:chExt cx="3779" cy="4010"/>
            </a:xfrm>
          </p:grpSpPr>
          <p:cxnSp>
            <p:nvCxnSpPr>
              <p:cNvPr id="21" name="直接连接符 20"/>
              <p:cNvCxnSpPr/>
              <p:nvPr/>
            </p:nvCxnSpPr>
            <p:spPr>
              <a:xfrm flipH="1">
                <a:off x="15493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H="1">
                <a:off x="14486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组合 25"/>
            <p:cNvGrpSpPr/>
            <p:nvPr/>
          </p:nvGrpSpPr>
          <p:grpSpPr>
            <a:xfrm>
              <a:off x="1999" y="3164"/>
              <a:ext cx="14378" cy="4930"/>
              <a:chOff x="1999" y="3283"/>
              <a:chExt cx="14378" cy="4930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1999" y="3283"/>
                <a:ext cx="14378" cy="4472"/>
                <a:chOff x="3417" y="3934"/>
                <a:chExt cx="11388" cy="3542"/>
              </a:xfrm>
            </p:grpSpPr>
            <p:sp>
              <p:nvSpPr>
                <p:cNvPr id="64" name="平行四边形 63"/>
                <p:cNvSpPr/>
                <p:nvPr>
                  <p:custDataLst>
                    <p:tags r:id="rId2"/>
                  </p:custDataLst>
                </p:nvPr>
              </p:nvSpPr>
              <p:spPr>
                <a:xfrm rot="10800000">
                  <a:off x="4267" y="3934"/>
                  <a:ext cx="10538" cy="3119"/>
                </a:xfrm>
                <a:prstGeom prst="parallelogram">
                  <a:avLst>
                    <a:gd name="adj" fmla="val 68862"/>
                  </a:avLst>
                </a:prstGeom>
                <a:solidFill>
                  <a:schemeClr val="accent3">
                    <a:alpha val="15000"/>
                  </a:schemeClr>
                </a:solidFill>
                <a:ln w="38100">
                  <a:gradFill>
                    <a:gsLst>
                      <a:gs pos="2000">
                        <a:schemeClr val="accent6">
                          <a:alpha val="0"/>
                        </a:schemeClr>
                      </a:gs>
                      <a:gs pos="50000">
                        <a:schemeClr val="accent6"/>
                      </a:gs>
                      <a:gs pos="100000">
                        <a:schemeClr val="accent6">
                          <a:alpha val="0"/>
                        </a:schemeClr>
                      </a:gs>
                    </a:gsLst>
                    <a:lin ang="0" scaled="1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dirty="0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63" name="平行四边形 62"/>
                <p:cNvSpPr/>
                <p:nvPr>
                  <p:custDataLst>
                    <p:tags r:id="rId3"/>
                  </p:custDataLst>
                </p:nvPr>
              </p:nvSpPr>
              <p:spPr>
                <a:xfrm rot="10800000">
                  <a:off x="3417" y="4357"/>
                  <a:ext cx="10537" cy="3119"/>
                </a:xfrm>
                <a:prstGeom prst="parallelogram">
                  <a:avLst>
                    <a:gd name="adj" fmla="val 68862"/>
                  </a:avLst>
                </a:prstGeom>
                <a:noFill/>
                <a:ln w="41275">
                  <a:gradFill>
                    <a:gsLst>
                      <a:gs pos="2000">
                        <a:schemeClr val="accent1">
                          <a:alpha val="0"/>
                        </a:schemeClr>
                      </a:gs>
                      <a:gs pos="5000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</p:grpSp>
          <p:sp>
            <p:nvSpPr>
              <p:cNvPr id="65" name="文本框 64"/>
              <p:cNvSpPr txBox="1"/>
              <p:nvPr/>
            </p:nvSpPr>
            <p:spPr>
              <a:xfrm flipH="1">
                <a:off x="8507" y="3998"/>
                <a:ext cx="6169" cy="4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en-US" sz="5600" i="1" cap="all" dirty="0">
                    <a:solidFill>
                      <a:schemeClr val="bg2"/>
                    </a:solidFill>
                    <a:uFillTx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 What is Java?</a:t>
                </a:r>
                <a:endParaRPr lang="en-US" altLang="en-US" sz="5600" i="1" cap="all" dirty="0">
                  <a:solidFill>
                    <a:schemeClr val="bg2"/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  <a:p>
                <a:pPr algn="ctr"/>
                <a:endParaRPr lang="en-US" altLang="en-US" sz="5600" i="1" cap="all" dirty="0">
                  <a:solidFill>
                    <a:schemeClr val="bg2"/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8" name="文本框 7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4929" y="3998"/>
                <a:ext cx="3927" cy="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1500" i="1" dirty="0">
                    <a:ln>
                      <a:solidFill>
                        <a:schemeClr val="bg1"/>
                      </a:solidFill>
                    </a:ln>
                    <a:noFill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01</a:t>
                </a:r>
                <a:endParaRPr lang="en-US" altLang="zh-CN" sz="11500" i="1" dirty="0">
                  <a:ln>
                    <a:solidFill>
                      <a:schemeClr val="bg1"/>
                    </a:solidFill>
                  </a:ln>
                  <a:noFill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</p:grpSp>
      </p:grp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47725" y="1762760"/>
            <a:ext cx="1091882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solidFill>
                  <a:schemeClr val="bg1">
                    <a:lumMod val="95000"/>
                  </a:schemeClr>
                </a:solidFill>
              </a:rPr>
              <a:t>• Created in 1995 by James Gosling</a:t>
            </a:r>
            <a:endParaRPr lang="en-US" altLang="en-US" sz="2800">
              <a:solidFill>
                <a:schemeClr val="bg1">
                  <a:lumMod val="95000"/>
                </a:schemeClr>
              </a:solidFill>
            </a:endParaRPr>
          </a:p>
          <a:p>
            <a:endParaRPr lang="en-US" altLang="en-US" sz="28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 sz="2800">
                <a:solidFill>
                  <a:schemeClr val="bg1">
                    <a:lumMod val="95000"/>
                  </a:schemeClr>
                </a:solidFill>
              </a:rPr>
              <a:t>• Platform-independent language</a:t>
            </a:r>
            <a:endParaRPr lang="en-US" altLang="en-US" sz="2800">
              <a:solidFill>
                <a:schemeClr val="bg1">
                  <a:lumMod val="95000"/>
                </a:schemeClr>
              </a:solidFill>
            </a:endParaRPr>
          </a:p>
          <a:p>
            <a:endParaRPr lang="en-US" altLang="en-US" sz="28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 sz="2800">
                <a:solidFill>
                  <a:schemeClr val="bg1">
                    <a:lumMod val="95000"/>
                  </a:schemeClr>
                </a:solidFill>
              </a:rPr>
              <a:t>• "Write Once, Run Anywhere" philosophy</a:t>
            </a:r>
            <a:endParaRPr lang="en-US" altLang="en-US" sz="2800">
              <a:solidFill>
                <a:schemeClr val="bg1">
                  <a:lumMod val="95000"/>
                </a:schemeClr>
              </a:solidFill>
            </a:endParaRPr>
          </a:p>
          <a:p>
            <a:endParaRPr lang="en-US" altLang="en-US" sz="28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 sz="2800">
                <a:solidFill>
                  <a:schemeClr val="bg1">
                    <a:lumMod val="95000"/>
                  </a:schemeClr>
                </a:solidFill>
              </a:rPr>
              <a:t>• Object-oriented &amp; secure by design</a:t>
            </a:r>
            <a:endParaRPr lang="en-US" altLang="en-US" sz="2800">
              <a:solidFill>
                <a:schemeClr val="bg1">
                  <a:lumMod val="95000"/>
                </a:schemeClr>
              </a:solidFill>
            </a:endParaRPr>
          </a:p>
          <a:p>
            <a:endParaRPr lang="en-US" altLang="en-US" sz="28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 sz="2800">
                <a:solidFill>
                  <a:schemeClr val="bg1">
                    <a:lumMod val="95000"/>
                  </a:schemeClr>
                </a:solidFill>
              </a:rPr>
              <a:t>• Used in web, mobile, enterprise applications</a:t>
            </a:r>
            <a:endParaRPr lang="en-US" altLang="en-US" sz="28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331845" y="79375"/>
            <a:ext cx="48628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Java</a:t>
            </a:r>
            <a:endParaRPr lang="en-I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pic>
        <p:nvPicPr>
          <p:cNvPr id="103" name="图片 102" descr="VCG211292673800"/>
          <p:cNvPicPr>
            <a:picLocks noChangeAspect="1"/>
          </p:cNvPicPr>
          <p:nvPr/>
        </p:nvPicPr>
        <p:blipFill>
          <a:blip r:embed="rId2"/>
          <a:srcRect l="-174" t="7595" r="174" b="11821"/>
          <a:stretch>
            <a:fillRect/>
          </a:stretch>
        </p:blipFill>
        <p:spPr>
          <a:xfrm>
            <a:off x="6965315" y="2831465"/>
            <a:ext cx="4640580" cy="297815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3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 Common Error Types</a:t>
            </a:r>
            <a:endParaRPr lang="en-US" altLang="en-US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  <a:p>
            <a:pPr algn="ctr"/>
            <a:endParaRPr lang="en-US" altLang="en-US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659765" y="1112520"/>
            <a:ext cx="5557520" cy="4283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200">
                <a:solidFill>
                  <a:schemeClr val="bg1">
                    <a:lumMod val="95000"/>
                  </a:schemeClr>
                </a:solidFill>
              </a:rPr>
              <a:t>Code Review Findings</a:t>
            </a:r>
            <a:endParaRPr lang="en-US" altLang="en-US" sz="3200">
              <a:solidFill>
                <a:schemeClr val="bg1">
                  <a:lumMod val="95000"/>
                </a:schemeClr>
              </a:solidFill>
            </a:endParaRPr>
          </a:p>
          <a:p>
            <a:endParaRPr lang="en-US" altLang="en-US" sz="32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 sz="3200">
                <a:solidFill>
                  <a:schemeClr val="bg1">
                    <a:lumMod val="95000"/>
                  </a:schemeClr>
                </a:solidFill>
              </a:rPr>
              <a:t>• Syntax Errors</a:t>
            </a:r>
            <a:endParaRPr lang="en-US" altLang="en-US" sz="32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 sz="3200">
                <a:solidFill>
                  <a:schemeClr val="bg1">
                    <a:lumMod val="95000"/>
                  </a:schemeClr>
                </a:solidFill>
              </a:rPr>
              <a:t>• Logical Errors</a:t>
            </a:r>
            <a:endParaRPr lang="en-US" altLang="en-US" sz="32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 sz="3200">
                <a:solidFill>
                  <a:schemeClr val="bg1">
                    <a:lumMod val="95000"/>
                  </a:schemeClr>
                </a:solidFill>
              </a:rPr>
              <a:t>• Runtime Errors</a:t>
            </a:r>
            <a:endParaRPr lang="en-US" altLang="en-US" sz="32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 sz="3200">
                <a:solidFill>
                  <a:schemeClr val="bg1">
                    <a:lumMod val="95000"/>
                  </a:schemeClr>
                </a:solidFill>
              </a:rPr>
              <a:t>• Type Mismatch Issues</a:t>
            </a:r>
            <a:endParaRPr lang="en-US" altLang="en-US" sz="32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 sz="3200">
                <a:solidFill>
                  <a:schemeClr val="bg1">
                    <a:lumMod val="95000"/>
                  </a:schemeClr>
                </a:solidFill>
              </a:rPr>
              <a:t>• Scope &amp; Access Problems</a:t>
            </a:r>
            <a:endParaRPr lang="en-US" altLang="en-US" sz="3200">
              <a:solidFill>
                <a:schemeClr val="bg1">
                  <a:lumMod val="95000"/>
                </a:schemeClr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 Error 1 - Basic Syntax</a:t>
            </a:r>
            <a:endParaRPr lang="en-US" altLang="en-US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18" name="Text Box 17"/>
          <p:cNvSpPr txBox="1"/>
          <p:nvPr/>
        </p:nvSpPr>
        <p:spPr>
          <a:xfrm>
            <a:off x="1194435" y="1620520"/>
            <a:ext cx="928052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solidFill>
                  <a:schemeClr val="bg1">
                    <a:lumMod val="95000"/>
                  </a:schemeClr>
                </a:solidFill>
              </a:rPr>
              <a:t> Missing Semicolon</a:t>
            </a:r>
            <a:endParaRPr lang="en-US" altLang="en-US" sz="2800">
              <a:solidFill>
                <a:schemeClr val="bg1">
                  <a:lumMod val="95000"/>
                </a:schemeClr>
              </a:solidFill>
            </a:endParaRPr>
          </a:p>
          <a:p>
            <a:endParaRPr lang="en-US" altLang="en-US" sz="28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 sz="2800">
                <a:solidFill>
                  <a:schemeClr val="bg1">
                    <a:lumMod val="95000"/>
                  </a:schemeClr>
                </a:solidFill>
              </a:rPr>
              <a:t>Problem:</a:t>
            </a:r>
            <a:endParaRPr lang="en-US" altLang="en-US" sz="28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 sz="2800">
                <a:solidFill>
                  <a:schemeClr val="bg1">
                    <a:lumMod val="95000"/>
                  </a:schemeClr>
                </a:solidFill>
              </a:rPr>
              <a:t>System.out.println("Hello, World!")</a:t>
            </a:r>
            <a:endParaRPr lang="en-US" altLang="en-US" sz="2800">
              <a:solidFill>
                <a:schemeClr val="bg1">
                  <a:lumMod val="95000"/>
                </a:schemeClr>
              </a:solidFill>
            </a:endParaRPr>
          </a:p>
          <a:p>
            <a:endParaRPr lang="en-US" altLang="en-US" sz="28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 sz="2800">
                <a:solidFill>
                  <a:schemeClr val="bg1">
                    <a:lumMod val="95000"/>
                  </a:schemeClr>
                </a:solidFill>
              </a:rPr>
              <a:t>Solution:</a:t>
            </a:r>
            <a:endParaRPr lang="en-US" altLang="en-US" sz="28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 sz="2800">
                <a:solidFill>
                  <a:schemeClr val="bg1">
                    <a:lumMod val="95000"/>
                  </a:schemeClr>
                </a:solidFill>
              </a:rPr>
              <a:t>System.out.println("Hello, World!");</a:t>
            </a:r>
            <a:endParaRPr lang="en-US" altLang="en-US" sz="2800">
              <a:solidFill>
                <a:schemeClr val="bg1">
                  <a:lumMod val="95000"/>
                </a:schemeClr>
              </a:solidFill>
            </a:endParaRPr>
          </a:p>
          <a:p>
            <a:endParaRPr lang="en-US" altLang="en-US" sz="28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 sz="2800">
                <a:solidFill>
                  <a:schemeClr val="bg1">
                    <a:lumMod val="95000"/>
                  </a:schemeClr>
                </a:solidFill>
              </a:rPr>
              <a:t> Every Java statement must end with semicolon</a:t>
            </a:r>
            <a:r>
              <a:rPr lang="en-IN" altLang="en-US" sz="2800">
                <a:solidFill>
                  <a:schemeClr val="bg1">
                    <a:lumMod val="95000"/>
                  </a:schemeClr>
                </a:solidFill>
              </a:rPr>
              <a:t>;</a:t>
            </a:r>
            <a:endParaRPr lang="en-IN" altLang="en-US" sz="2800">
              <a:solidFill>
                <a:schemeClr val="bg1">
                  <a:lumMod val="9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41" name="平行四边形 40"/>
          <p:cNvSpPr/>
          <p:nvPr>
            <p:custDataLst>
              <p:tags r:id="rId2"/>
            </p:custDataLst>
          </p:nvPr>
        </p:nvSpPr>
        <p:spPr>
          <a:xfrm rot="10800000" flipH="1">
            <a:off x="964565" y="1156018"/>
            <a:ext cx="10328275" cy="4986020"/>
          </a:xfrm>
          <a:prstGeom prst="parallelogram">
            <a:avLst>
              <a:gd name="adj" fmla="val 0"/>
            </a:avLst>
          </a:prstGeom>
          <a:solidFill>
            <a:schemeClr val="accent3">
              <a:alpha val="10000"/>
            </a:schemeClr>
          </a:solidFill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39" name="任意多边形: 形状 138"/>
          <p:cNvSpPr/>
          <p:nvPr>
            <p:custDataLst>
              <p:tags r:id="rId3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 Error 2 - Method Scope</a:t>
            </a:r>
            <a:endParaRPr lang="en-US" altLang="en-US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29" name="Text Box 28"/>
          <p:cNvSpPr txBox="1"/>
          <p:nvPr/>
        </p:nvSpPr>
        <p:spPr>
          <a:xfrm>
            <a:off x="1470660" y="1656080"/>
            <a:ext cx="827405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>
                <a:solidFill>
                  <a:schemeClr val="bg1">
                    <a:lumMod val="95000"/>
                  </a:schemeClr>
                </a:solidFill>
              </a:rPr>
              <a:t> Method Call Placement</a:t>
            </a:r>
            <a:endParaRPr lang="en-US" altLang="en-US" sz="2400">
              <a:solidFill>
                <a:schemeClr val="bg1">
                  <a:lumMod val="95000"/>
                </a:schemeClr>
              </a:solidFill>
            </a:endParaRPr>
          </a:p>
          <a:p>
            <a:endParaRPr lang="en-US" altLang="en-US" sz="24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 sz="2400">
                <a:solidFill>
                  <a:schemeClr val="bg1">
                    <a:lumMod val="95000"/>
                  </a:schemeClr>
                </a:solidFill>
              </a:rPr>
              <a:t>Problem:</a:t>
            </a:r>
            <a:endParaRPr lang="en-US" altLang="en-US" sz="24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 sz="2400">
                <a:solidFill>
                  <a:schemeClr val="bg1">
                    <a:lumMod val="95000"/>
                  </a:schemeClr>
                </a:solidFill>
              </a:rPr>
              <a:t>greet(); // Outside any method</a:t>
            </a:r>
            <a:endParaRPr lang="en-US" altLang="en-US" sz="2400">
              <a:solidFill>
                <a:schemeClr val="bg1">
                  <a:lumMod val="95000"/>
                </a:schemeClr>
              </a:solidFill>
            </a:endParaRPr>
          </a:p>
          <a:p>
            <a:endParaRPr lang="en-US" altLang="en-US" sz="24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 sz="2400">
                <a:solidFill>
                  <a:schemeClr val="bg1">
                    <a:lumMod val="95000"/>
                  </a:schemeClr>
                </a:solidFill>
              </a:rPr>
              <a:t>Solution:</a:t>
            </a:r>
            <a:endParaRPr lang="en-US" altLang="en-US" sz="24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 sz="2400">
                <a:solidFill>
                  <a:schemeClr val="bg1">
                    <a:lumMod val="95000"/>
                  </a:schemeClr>
                </a:solidFill>
              </a:rPr>
              <a:t>public static void main(String[] args) {</a:t>
            </a:r>
            <a:endParaRPr lang="en-US" altLang="en-US" sz="24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 sz="2400">
                <a:solidFill>
                  <a:schemeClr val="bg1">
                    <a:lumMod val="95000"/>
                  </a:schemeClr>
                </a:solidFill>
              </a:rPr>
              <a:t>    new Main().greet();</a:t>
            </a:r>
            <a:endParaRPr lang="en-US" altLang="en-US" sz="24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 sz="2400">
                <a:solidFill>
                  <a:schemeClr val="bg1">
                    <a:lumMod val="95000"/>
                  </a:schemeClr>
                </a:solidFill>
              </a:rPr>
              <a:t>}</a:t>
            </a:r>
            <a:endParaRPr lang="en-US" altLang="en-US" sz="2400">
              <a:solidFill>
                <a:schemeClr val="bg1">
                  <a:lumMod val="95000"/>
                </a:schemeClr>
              </a:solidFill>
            </a:endParaRPr>
          </a:p>
          <a:p>
            <a:endParaRPr lang="en-US" altLang="en-US" sz="24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 sz="2400">
                <a:solidFill>
                  <a:schemeClr val="bg1">
                    <a:lumMod val="95000"/>
                  </a:schemeClr>
                </a:solidFill>
              </a:rPr>
              <a:t>Executable code must be inside methods</a:t>
            </a:r>
            <a:endParaRPr lang="en-US" altLang="en-US" sz="2400">
              <a:solidFill>
                <a:schemeClr val="bg1">
                  <a:lumMod val="95000"/>
                </a:schemeClr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19" name="平行四边形 18"/>
          <p:cNvSpPr/>
          <p:nvPr>
            <p:custDataLst>
              <p:tags r:id="rId2"/>
            </p:custDataLst>
          </p:nvPr>
        </p:nvSpPr>
        <p:spPr>
          <a:xfrm rot="10800000">
            <a:off x="5935345" y="3322320"/>
            <a:ext cx="5853430" cy="2686685"/>
          </a:xfrm>
          <a:prstGeom prst="parallelogram">
            <a:avLst>
              <a:gd name="adj" fmla="val 0"/>
            </a:avLst>
          </a:prstGeom>
          <a:solidFill>
            <a:schemeClr val="accent3">
              <a:alpha val="10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9" name="平行四边形 8"/>
          <p:cNvSpPr/>
          <p:nvPr>
            <p:custDataLst>
              <p:tags r:id="rId3"/>
            </p:custDataLst>
          </p:nvPr>
        </p:nvSpPr>
        <p:spPr>
          <a:xfrm rot="10800000" flipH="1">
            <a:off x="5726430" y="1559560"/>
            <a:ext cx="6061710" cy="1415415"/>
          </a:xfrm>
          <a:prstGeom prst="parallelogram">
            <a:avLst>
              <a:gd name="adj" fmla="val 0"/>
            </a:avLst>
          </a:prstGeom>
          <a:solidFill>
            <a:schemeClr val="accent3">
              <a:alpha val="10000"/>
            </a:schemeClr>
          </a:solidFill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39" name="任意多边形: 形状 138"/>
          <p:cNvSpPr/>
          <p:nvPr>
            <p:custDataLst>
              <p:tags r:id="rId4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Error 3 - Type Safety</a:t>
            </a:r>
            <a:endParaRPr lang="en-US" altLang="en-US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5"/>
            </p:custDataLst>
          </p:nvPr>
        </p:nvGrpSpPr>
        <p:grpSpPr>
          <a:xfrm>
            <a:off x="6360160" y="1720215"/>
            <a:ext cx="4933315" cy="3563620"/>
            <a:chOff x="10036" y="3109"/>
            <a:chExt cx="7769" cy="5612"/>
          </a:xfrm>
        </p:grpSpPr>
        <p:cxnSp>
          <p:nvCxnSpPr>
            <p:cNvPr id="5" name="Straight Connector 7"/>
            <p:cNvCxnSpPr/>
            <p:nvPr/>
          </p:nvCxnSpPr>
          <p:spPr>
            <a:xfrm>
              <a:off x="10036" y="5400"/>
              <a:ext cx="7769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21"/>
            <p:cNvSpPr/>
            <p:nvPr>
              <p:custDataLst>
                <p:tags r:id="rId6"/>
              </p:custDataLst>
            </p:nvPr>
          </p:nvSpPr>
          <p:spPr>
            <a:xfrm>
              <a:off x="10491" y="6335"/>
              <a:ext cx="2984" cy="2386"/>
            </a:xfrm>
            <a:prstGeom prst="rect">
              <a:avLst/>
            </a:prstGeom>
          </p:spPr>
          <p:txBody>
            <a:bodyPr wrap="square" bIns="46990" rtlCol="0">
              <a:noAutofit/>
            </a:bodyPr>
            <a:p>
              <a:pPr lvl="0" algn="l">
                <a:lnSpc>
                  <a:spcPct val="130000"/>
                </a:lnSpc>
                <a:spcAft>
                  <a:spcPts val="1000"/>
                </a:spcAft>
                <a:buClr>
                  <a:srgbClr val="E24848"/>
                </a:buClr>
                <a:buSzTx/>
                <a:buFontTx/>
              </a:pPr>
              <a:r>
                <a:rPr lang="en-US" altLang="en-US" sz="170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Solution:</a:t>
              </a:r>
              <a:endParaRPr lang="en-US" altLang="en-US" sz="17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lvl="0" algn="l">
                <a:lnSpc>
                  <a:spcPct val="130000"/>
                </a:lnSpc>
                <a:spcAft>
                  <a:spcPts val="1000"/>
                </a:spcAft>
                <a:buClr>
                  <a:srgbClr val="E24848"/>
                </a:buClr>
                <a:buSzTx/>
                <a:buFontTx/>
              </a:pPr>
              <a:r>
                <a:rPr lang="en-US" altLang="en-US" sz="170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int number = 10;</a:t>
              </a:r>
              <a:endParaRPr lang="en-US" altLang="en-US" sz="17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lvl="0" algn="l">
                <a:lnSpc>
                  <a:spcPct val="130000"/>
                </a:lnSpc>
                <a:spcAft>
                  <a:spcPts val="1000"/>
                </a:spcAft>
                <a:buClr>
                  <a:srgbClr val="E24848"/>
                </a:buClr>
                <a:buSzTx/>
                <a:buFontTx/>
              </a:pPr>
              <a:endParaRPr lang="en-US" altLang="en-US" sz="6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36" name="TextBox 24"/>
            <p:cNvSpPr txBox="1"/>
            <p:nvPr>
              <p:custDataLst>
                <p:tags r:id="rId7"/>
              </p:custDataLst>
            </p:nvPr>
          </p:nvSpPr>
          <p:spPr>
            <a:xfrm>
              <a:off x="13772" y="6578"/>
              <a:ext cx="3910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en-US" sz="1400" dirty="0">
                  <a:solidFill>
                    <a:schemeClr val="accent6"/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Java is strongly typed - respect data types</a:t>
              </a:r>
              <a:endParaRPr lang="en-US" altLang="en-US" sz="1400" dirty="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algn="l"/>
              <a:endParaRPr lang="en-US" altLang="en-US" sz="1400" dirty="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2" name="TextBox 16"/>
            <p:cNvSpPr txBox="1"/>
            <p:nvPr/>
          </p:nvSpPr>
          <p:spPr>
            <a:xfrm>
              <a:off x="10143" y="3109"/>
              <a:ext cx="7662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en-US" sz="2000" dirty="0">
                  <a:solidFill>
                    <a:schemeClr val="accent1"/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❌ Type Mismatch</a:t>
              </a:r>
              <a:endParaRPr lang="en-US" altLang="en-US" sz="2000" dirty="0">
                <a:solidFill>
                  <a:schemeClr val="accent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algn="l"/>
              <a:endParaRPr lang="en-US" altLang="en-US" sz="2000" dirty="0">
                <a:solidFill>
                  <a:schemeClr val="accent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3" name="Rectangle 17"/>
            <p:cNvSpPr/>
            <p:nvPr/>
          </p:nvSpPr>
          <p:spPr>
            <a:xfrm>
              <a:off x="10143" y="3752"/>
              <a:ext cx="7662" cy="901"/>
            </a:xfrm>
            <a:prstGeom prst="rect">
              <a:avLst/>
            </a:prstGeom>
          </p:spPr>
          <p:txBody>
            <a:bodyPr wrap="square" bIns="46990" rtlCol="0">
              <a:noAutofit/>
            </a:bodyPr>
            <a:p>
              <a:pPr lvl="0" algn="l">
                <a:lnSpc>
                  <a:spcPct val="130000"/>
                </a:lnSpc>
                <a:spcAft>
                  <a:spcPts val="1000"/>
                </a:spcAft>
                <a:buClr>
                  <a:srgbClr val="E24848"/>
                </a:buClr>
                <a:buSzTx/>
                <a:buFontTx/>
              </a:pPr>
              <a:r>
                <a:rPr lang="en-US" altLang="en-US" sz="150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Problem:</a:t>
              </a:r>
              <a:endParaRPr lang="en-US" altLang="en-US" sz="15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lvl="0" algn="l">
                <a:lnSpc>
                  <a:spcPct val="130000"/>
                </a:lnSpc>
                <a:spcAft>
                  <a:spcPts val="1000"/>
                </a:spcAft>
                <a:buClr>
                  <a:srgbClr val="E24848"/>
                </a:buClr>
                <a:buSzTx/>
                <a:buFontTx/>
              </a:pPr>
              <a:r>
                <a:rPr lang="en-US" altLang="en-US" sz="150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int number = "10"; // String to int</a:t>
              </a:r>
              <a:endParaRPr lang="en-US" altLang="en-US" sz="15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</p:grpSp>
      <p:pic>
        <p:nvPicPr>
          <p:cNvPr id="6" name="图片 5" descr="VCG211226878736"/>
          <p:cNvPicPr>
            <a:picLocks noChangeAspect="1"/>
          </p:cNvPicPr>
          <p:nvPr/>
        </p:nvPicPr>
        <p:blipFill>
          <a:blip r:embed="rId8"/>
          <a:srcRect l="32134"/>
          <a:stretch>
            <a:fillRect/>
          </a:stretch>
        </p:blipFill>
        <p:spPr>
          <a:xfrm flipH="1">
            <a:off x="702310" y="1558290"/>
            <a:ext cx="5353685" cy="443674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Error 4 - Array Management</a:t>
            </a:r>
            <a:endParaRPr lang="en-US" altLang="en-US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2997200" y="466090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8321675" y="44767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5" name="Text Box 4"/>
          <p:cNvSpPr txBox="1"/>
          <p:nvPr/>
        </p:nvSpPr>
        <p:spPr>
          <a:xfrm>
            <a:off x="229870" y="1076960"/>
            <a:ext cx="34823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bg1">
                    <a:lumMod val="95000"/>
                  </a:schemeClr>
                </a:solidFill>
              </a:rPr>
              <a:t>❌ Array Index Out of Bounds</a:t>
            </a:r>
            <a:endParaRPr lang="en-US" altLang="en-US">
              <a:solidFill>
                <a:schemeClr val="bg1">
                  <a:lumMod val="95000"/>
                </a:schemeClr>
              </a:solidFill>
            </a:endParaRPr>
          </a:p>
          <a:p>
            <a:endParaRPr lang="en-US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63880" y="1722120"/>
            <a:ext cx="862203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solidFill>
                  <a:schemeClr val="bg1">
                    <a:lumMod val="95000"/>
                  </a:schemeClr>
                </a:solidFill>
              </a:rPr>
              <a:t>Problem:</a:t>
            </a:r>
            <a:endParaRPr lang="en-US" altLang="en-US" sz="28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 sz="2800">
                <a:solidFill>
                  <a:schemeClr val="bg1">
                    <a:lumMod val="95000"/>
                  </a:schemeClr>
                </a:solidFill>
              </a:rPr>
              <a:t>int[] numbers = {1,2,3,4};</a:t>
            </a:r>
            <a:endParaRPr lang="en-US" altLang="en-US" sz="28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US" sz="2800">
                <a:solidFill>
                  <a:schemeClr val="bg1">
                    <a:lumMod val="95000"/>
                  </a:schemeClr>
                </a:solidFill>
              </a:rPr>
              <a:t>System.out.println(numbers[4]);</a:t>
            </a:r>
            <a:endParaRPr lang="en-US" altLang="en-US" sz="28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713105" y="3793490"/>
            <a:ext cx="919988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>
                <a:solidFill>
                  <a:schemeClr val="bg1"/>
                </a:solidFill>
              </a:rPr>
              <a:t>Solution:</a:t>
            </a:r>
            <a:endParaRPr lang="en-US" altLang="en-US" sz="3600">
              <a:solidFill>
                <a:schemeClr val="bg1"/>
              </a:solidFill>
            </a:endParaRPr>
          </a:p>
          <a:p>
            <a:r>
              <a:rPr lang="en-US" altLang="en-US" sz="3600">
                <a:solidFill>
                  <a:schemeClr val="bg1"/>
                </a:solidFill>
              </a:rPr>
              <a:t>System.out.println(numbers[3]);</a:t>
            </a:r>
            <a:endParaRPr lang="en-US" altLang="en-US" sz="3600">
              <a:solidFill>
                <a:schemeClr val="bg1"/>
              </a:solidFill>
            </a:endParaRPr>
          </a:p>
          <a:p>
            <a:endParaRPr lang="en-US" altLang="en-US" sz="3600">
              <a:solidFill>
                <a:schemeClr val="bg1"/>
              </a:solidFill>
            </a:endParaRPr>
          </a:p>
          <a:p>
            <a:r>
              <a:rPr lang="en-US" altLang="en-US" sz="3600">
                <a:solidFill>
                  <a:schemeClr val="bg1"/>
                </a:solidFill>
              </a:rPr>
              <a:t>Array indices start from 0, not 1</a:t>
            </a:r>
            <a:endParaRPr lang="en-US" altLang="en-US" sz="3600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9" name="平行四边形 8"/>
          <p:cNvSpPr/>
          <p:nvPr>
            <p:custDataLst>
              <p:tags r:id="rId2"/>
            </p:custDataLst>
          </p:nvPr>
        </p:nvSpPr>
        <p:spPr>
          <a:xfrm rot="10800000" flipH="1">
            <a:off x="774065" y="1522095"/>
            <a:ext cx="10772775" cy="4441190"/>
          </a:xfrm>
          <a:prstGeom prst="parallelogram">
            <a:avLst>
              <a:gd name="adj" fmla="val 0"/>
            </a:avLst>
          </a:prstGeom>
          <a:solidFill>
            <a:schemeClr val="accent3">
              <a:alpha val="10000"/>
            </a:schemeClr>
          </a:solidFill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39" name="任意多边形: 形状 138"/>
          <p:cNvSpPr/>
          <p:nvPr>
            <p:custDataLst>
              <p:tags r:id="rId3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34435" y="0"/>
            <a:ext cx="47682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Object-Oriented Programming</a:t>
            </a:r>
            <a:endParaRPr lang="en-US" altLang="en-US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4"/>
            </p:custDataLst>
          </p:nvPr>
        </p:nvGrpSpPr>
        <p:grpSpPr>
          <a:xfrm>
            <a:off x="1780540" y="1950085"/>
            <a:ext cx="8760460" cy="3659505"/>
            <a:chOff x="2691" y="3071"/>
            <a:chExt cx="13796" cy="5763"/>
          </a:xfrm>
        </p:grpSpPr>
        <p:grpSp>
          <p:nvGrpSpPr>
            <p:cNvPr id="26" name="กลุ่ม 12"/>
            <p:cNvGrpSpPr/>
            <p:nvPr/>
          </p:nvGrpSpPr>
          <p:grpSpPr>
            <a:xfrm rot="0">
              <a:off x="2691" y="3071"/>
              <a:ext cx="13569" cy="5763"/>
              <a:chOff x="3340417" y="3657600"/>
              <a:chExt cx="17231995" cy="7318369"/>
            </a:xfrm>
          </p:grpSpPr>
          <p:grpSp>
            <p:nvGrpSpPr>
              <p:cNvPr id="27" name="กลุ่ม 1"/>
              <p:cNvGrpSpPr/>
              <p:nvPr/>
            </p:nvGrpSpPr>
            <p:grpSpPr>
              <a:xfrm>
                <a:off x="3779837" y="3657600"/>
                <a:ext cx="16792575" cy="7254875"/>
                <a:chOff x="3816350" y="3870325"/>
                <a:chExt cx="16792575" cy="7254875"/>
              </a:xfrm>
            </p:grpSpPr>
            <p:sp>
              <p:nvSpPr>
                <p:cNvPr id="30" name="Freeform 6"/>
                <p:cNvSpPr>
                  <a:spLocks noEditPoints="1"/>
                </p:cNvSpPr>
                <p:nvPr>
                  <p:custDataLst>
                    <p:tags r:id="rId5"/>
                  </p:custDataLst>
                </p:nvPr>
              </p:nvSpPr>
              <p:spPr bwMode="auto">
                <a:xfrm>
                  <a:off x="8642350" y="7943850"/>
                  <a:ext cx="2678113" cy="3181350"/>
                </a:xfrm>
                <a:custGeom>
                  <a:avLst/>
                  <a:gdLst>
                    <a:gd name="T0" fmla="*/ 59 w 96"/>
                    <a:gd name="T1" fmla="*/ 20 h 114"/>
                    <a:gd name="T2" fmla="*/ 48 w 96"/>
                    <a:gd name="T3" fmla="*/ 0 h 114"/>
                    <a:gd name="T4" fmla="*/ 37 w 96"/>
                    <a:gd name="T5" fmla="*/ 20 h 114"/>
                    <a:gd name="T6" fmla="*/ 0 w 96"/>
                    <a:gd name="T7" fmla="*/ 66 h 114"/>
                    <a:gd name="T8" fmla="*/ 48 w 96"/>
                    <a:gd name="T9" fmla="*/ 114 h 114"/>
                    <a:gd name="T10" fmla="*/ 96 w 96"/>
                    <a:gd name="T11" fmla="*/ 66 h 114"/>
                    <a:gd name="T12" fmla="*/ 59 w 96"/>
                    <a:gd name="T13" fmla="*/ 20 h 114"/>
                    <a:gd name="T14" fmla="*/ 48 w 96"/>
                    <a:gd name="T15" fmla="*/ 106 h 114"/>
                    <a:gd name="T16" fmla="*/ 8 w 96"/>
                    <a:gd name="T17" fmla="*/ 66 h 114"/>
                    <a:gd name="T18" fmla="*/ 48 w 96"/>
                    <a:gd name="T19" fmla="*/ 27 h 114"/>
                    <a:gd name="T20" fmla="*/ 88 w 96"/>
                    <a:gd name="T21" fmla="*/ 66 h 114"/>
                    <a:gd name="T22" fmla="*/ 48 w 96"/>
                    <a:gd name="T23" fmla="*/ 106 h 1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96" h="114">
                      <a:moveTo>
                        <a:pt x="59" y="20"/>
                      </a:move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37" y="20"/>
                        <a:pt x="37" y="20"/>
                        <a:pt x="37" y="20"/>
                      </a:cubicBezTo>
                      <a:cubicBezTo>
                        <a:pt x="16" y="25"/>
                        <a:pt x="0" y="44"/>
                        <a:pt x="0" y="66"/>
                      </a:cubicBezTo>
                      <a:cubicBezTo>
                        <a:pt x="0" y="93"/>
                        <a:pt x="22" y="114"/>
                        <a:pt x="48" y="114"/>
                      </a:cubicBezTo>
                      <a:cubicBezTo>
                        <a:pt x="74" y="114"/>
                        <a:pt x="96" y="93"/>
                        <a:pt x="96" y="66"/>
                      </a:cubicBezTo>
                      <a:cubicBezTo>
                        <a:pt x="96" y="44"/>
                        <a:pt x="80" y="25"/>
                        <a:pt x="59" y="20"/>
                      </a:cubicBezTo>
                      <a:close/>
                      <a:moveTo>
                        <a:pt x="48" y="106"/>
                      </a:moveTo>
                      <a:cubicBezTo>
                        <a:pt x="26" y="106"/>
                        <a:pt x="8" y="88"/>
                        <a:pt x="8" y="66"/>
                      </a:cubicBezTo>
                      <a:cubicBezTo>
                        <a:pt x="8" y="44"/>
                        <a:pt x="26" y="27"/>
                        <a:pt x="48" y="27"/>
                      </a:cubicBezTo>
                      <a:cubicBezTo>
                        <a:pt x="70" y="27"/>
                        <a:pt x="88" y="44"/>
                        <a:pt x="88" y="66"/>
                      </a:cubicBezTo>
                      <a:cubicBezTo>
                        <a:pt x="88" y="88"/>
                        <a:pt x="70" y="106"/>
                        <a:pt x="48" y="10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vert="horz" wrap="square" lIns="45720" tIns="22860" rIns="45720" bIns="22860" numCol="1" anchor="t" anchorCtr="0" compatLnSpc="1"/>
                <a:p>
                  <a:endParaRPr lang="th-TH" sz="900">
                    <a:solidFill>
                      <a:schemeClr val="bg1">
                        <a:lumMod val="85000"/>
                      </a:schemeClr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31" name="Rectangle 7"/>
                <p:cNvSpPr>
                  <a:spLocks noChangeArrowheads="1"/>
                </p:cNvSpPr>
                <p:nvPr>
                  <p:custDataLst>
                    <p:tags r:id="rId6"/>
                  </p:custDataLst>
                </p:nvPr>
              </p:nvSpPr>
              <p:spPr bwMode="auto">
                <a:xfrm>
                  <a:off x="3816350" y="7413625"/>
                  <a:ext cx="16792575" cy="84138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45720" tIns="22860" rIns="45720" bIns="22860" numCol="1" anchor="t" anchorCtr="0" compatLnSpc="1"/>
                <a:p>
                  <a:endParaRPr lang="th-TH" sz="900">
                    <a:solidFill>
                      <a:schemeClr val="bg1">
                        <a:lumMod val="85000"/>
                      </a:schemeClr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32" name="Oval 8"/>
                <p:cNvSpPr>
                  <a:spLocks noChangeArrowheads="1"/>
                </p:cNvSpPr>
                <p:nvPr>
                  <p:custDataLst>
                    <p:tags r:id="rId7"/>
                  </p:custDataLst>
                </p:nvPr>
              </p:nvSpPr>
              <p:spPr bwMode="auto">
                <a:xfrm>
                  <a:off x="5211763" y="7189788"/>
                  <a:ext cx="585788" cy="5588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45720" tIns="22860" rIns="45720" bIns="22860" numCol="1" anchor="t" anchorCtr="0" compatLnSpc="1"/>
                <a:p>
                  <a:endParaRPr lang="th-TH" sz="900">
                    <a:solidFill>
                      <a:schemeClr val="bg1">
                        <a:lumMod val="85000"/>
                      </a:schemeClr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33" name="Oval 9"/>
                <p:cNvSpPr>
                  <a:spLocks noChangeArrowheads="1"/>
                </p:cNvSpPr>
                <p:nvPr>
                  <p:custDataLst>
                    <p:tags r:id="rId8"/>
                  </p:custDataLst>
                </p:nvPr>
              </p:nvSpPr>
              <p:spPr bwMode="auto">
                <a:xfrm>
                  <a:off x="9702800" y="7189788"/>
                  <a:ext cx="557213" cy="5588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vert="horz" wrap="square" lIns="45720" tIns="22860" rIns="45720" bIns="22860" numCol="1" anchor="t" anchorCtr="0" compatLnSpc="1"/>
                <a:p>
                  <a:endParaRPr lang="th-TH" sz="900">
                    <a:solidFill>
                      <a:schemeClr val="bg1">
                        <a:lumMod val="85000"/>
                      </a:schemeClr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34" name="Oval 10"/>
                <p:cNvSpPr>
                  <a:spLocks noChangeArrowheads="1"/>
                </p:cNvSpPr>
                <p:nvPr>
                  <p:custDataLst>
                    <p:tags r:id="rId9"/>
                  </p:custDataLst>
                </p:nvPr>
              </p:nvSpPr>
              <p:spPr bwMode="auto">
                <a:xfrm>
                  <a:off x="14165263" y="7189788"/>
                  <a:ext cx="585788" cy="558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45720" tIns="22860" rIns="45720" bIns="22860" numCol="1" anchor="t" anchorCtr="0" compatLnSpc="1"/>
                <a:p>
                  <a:endParaRPr lang="th-TH" sz="900">
                    <a:solidFill>
                      <a:schemeClr val="bg1">
                        <a:lumMod val="85000"/>
                      </a:schemeClr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35" name="Oval 11"/>
                <p:cNvSpPr>
                  <a:spLocks noChangeArrowheads="1"/>
                </p:cNvSpPr>
                <p:nvPr>
                  <p:custDataLst>
                    <p:tags r:id="rId10"/>
                  </p:custDataLst>
                </p:nvPr>
              </p:nvSpPr>
              <p:spPr bwMode="auto">
                <a:xfrm>
                  <a:off x="18656300" y="7189788"/>
                  <a:ext cx="557213" cy="558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45720" tIns="22860" rIns="45720" bIns="22860" numCol="1" anchor="t" anchorCtr="0" compatLnSpc="1"/>
                <a:p>
                  <a:endParaRPr lang="th-TH" sz="900">
                    <a:solidFill>
                      <a:schemeClr val="bg1">
                        <a:lumMod val="85000"/>
                      </a:schemeClr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36" name="Freeform 12"/>
                <p:cNvSpPr>
                  <a:spLocks noEditPoints="1"/>
                </p:cNvSpPr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4179888" y="3870325"/>
                  <a:ext cx="2649538" cy="3179763"/>
                </a:xfrm>
                <a:custGeom>
                  <a:avLst/>
                  <a:gdLst>
                    <a:gd name="T0" fmla="*/ 48 w 95"/>
                    <a:gd name="T1" fmla="*/ 0 h 114"/>
                    <a:gd name="T2" fmla="*/ 0 w 95"/>
                    <a:gd name="T3" fmla="*/ 48 h 114"/>
                    <a:gd name="T4" fmla="*/ 36 w 95"/>
                    <a:gd name="T5" fmla="*/ 94 h 114"/>
                    <a:gd name="T6" fmla="*/ 48 w 95"/>
                    <a:gd name="T7" fmla="*/ 114 h 114"/>
                    <a:gd name="T8" fmla="*/ 59 w 95"/>
                    <a:gd name="T9" fmla="*/ 94 h 114"/>
                    <a:gd name="T10" fmla="*/ 95 w 95"/>
                    <a:gd name="T11" fmla="*/ 48 h 114"/>
                    <a:gd name="T12" fmla="*/ 48 w 95"/>
                    <a:gd name="T13" fmla="*/ 0 h 114"/>
                    <a:gd name="T14" fmla="*/ 48 w 95"/>
                    <a:gd name="T15" fmla="*/ 88 h 114"/>
                    <a:gd name="T16" fmla="*/ 8 w 95"/>
                    <a:gd name="T17" fmla="*/ 48 h 114"/>
                    <a:gd name="T18" fmla="*/ 48 w 95"/>
                    <a:gd name="T19" fmla="*/ 8 h 114"/>
                    <a:gd name="T20" fmla="*/ 87 w 95"/>
                    <a:gd name="T21" fmla="*/ 48 h 114"/>
                    <a:gd name="T22" fmla="*/ 48 w 95"/>
                    <a:gd name="T23" fmla="*/ 88 h 1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95" h="114">
                      <a:moveTo>
                        <a:pt x="48" y="0"/>
                      </a:moveTo>
                      <a:cubicBezTo>
                        <a:pt x="21" y="0"/>
                        <a:pt x="0" y="21"/>
                        <a:pt x="0" y="48"/>
                      </a:cubicBezTo>
                      <a:cubicBezTo>
                        <a:pt x="0" y="70"/>
                        <a:pt x="15" y="89"/>
                        <a:pt x="36" y="94"/>
                      </a:cubicBezTo>
                      <a:cubicBezTo>
                        <a:pt x="48" y="114"/>
                        <a:pt x="48" y="114"/>
                        <a:pt x="48" y="114"/>
                      </a:cubicBezTo>
                      <a:cubicBezTo>
                        <a:pt x="59" y="94"/>
                        <a:pt x="59" y="94"/>
                        <a:pt x="59" y="94"/>
                      </a:cubicBezTo>
                      <a:cubicBezTo>
                        <a:pt x="80" y="89"/>
                        <a:pt x="95" y="70"/>
                        <a:pt x="95" y="48"/>
                      </a:cubicBezTo>
                      <a:cubicBezTo>
                        <a:pt x="95" y="21"/>
                        <a:pt x="74" y="0"/>
                        <a:pt x="48" y="0"/>
                      </a:cubicBezTo>
                      <a:close/>
                      <a:moveTo>
                        <a:pt x="48" y="88"/>
                      </a:moveTo>
                      <a:cubicBezTo>
                        <a:pt x="26" y="88"/>
                        <a:pt x="8" y="70"/>
                        <a:pt x="8" y="48"/>
                      </a:cubicBezTo>
                      <a:cubicBezTo>
                        <a:pt x="8" y="26"/>
                        <a:pt x="26" y="8"/>
                        <a:pt x="48" y="8"/>
                      </a:cubicBezTo>
                      <a:cubicBezTo>
                        <a:pt x="70" y="8"/>
                        <a:pt x="87" y="26"/>
                        <a:pt x="87" y="48"/>
                      </a:cubicBezTo>
                      <a:cubicBezTo>
                        <a:pt x="87" y="70"/>
                        <a:pt x="70" y="88"/>
                        <a:pt x="48" y="8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45720" tIns="22860" rIns="45720" bIns="22860" numCol="1" anchor="t" anchorCtr="0" compatLnSpc="1"/>
                <a:p>
                  <a:endParaRPr lang="th-TH" sz="900">
                    <a:solidFill>
                      <a:schemeClr val="bg1">
                        <a:lumMod val="85000"/>
                      </a:schemeClr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37" name="Freeform 13"/>
                <p:cNvSpPr>
                  <a:spLocks noEditPoints="1"/>
                </p:cNvSpPr>
                <p:nvPr>
                  <p:custDataLst>
                    <p:tags r:id="rId12"/>
                  </p:custDataLst>
                </p:nvPr>
              </p:nvSpPr>
              <p:spPr bwMode="auto">
                <a:xfrm>
                  <a:off x="17595850" y="7943850"/>
                  <a:ext cx="2678113" cy="3181350"/>
                </a:xfrm>
                <a:custGeom>
                  <a:avLst/>
                  <a:gdLst>
                    <a:gd name="T0" fmla="*/ 59 w 96"/>
                    <a:gd name="T1" fmla="*/ 20 h 114"/>
                    <a:gd name="T2" fmla="*/ 48 w 96"/>
                    <a:gd name="T3" fmla="*/ 0 h 114"/>
                    <a:gd name="T4" fmla="*/ 37 w 96"/>
                    <a:gd name="T5" fmla="*/ 20 h 114"/>
                    <a:gd name="T6" fmla="*/ 0 w 96"/>
                    <a:gd name="T7" fmla="*/ 66 h 114"/>
                    <a:gd name="T8" fmla="*/ 48 w 96"/>
                    <a:gd name="T9" fmla="*/ 114 h 114"/>
                    <a:gd name="T10" fmla="*/ 96 w 96"/>
                    <a:gd name="T11" fmla="*/ 66 h 114"/>
                    <a:gd name="T12" fmla="*/ 59 w 96"/>
                    <a:gd name="T13" fmla="*/ 20 h 114"/>
                    <a:gd name="T14" fmla="*/ 48 w 96"/>
                    <a:gd name="T15" fmla="*/ 106 h 114"/>
                    <a:gd name="T16" fmla="*/ 8 w 96"/>
                    <a:gd name="T17" fmla="*/ 66 h 114"/>
                    <a:gd name="T18" fmla="*/ 48 w 96"/>
                    <a:gd name="T19" fmla="*/ 27 h 114"/>
                    <a:gd name="T20" fmla="*/ 88 w 96"/>
                    <a:gd name="T21" fmla="*/ 66 h 114"/>
                    <a:gd name="T22" fmla="*/ 48 w 96"/>
                    <a:gd name="T23" fmla="*/ 106 h 1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96" h="114">
                      <a:moveTo>
                        <a:pt x="59" y="20"/>
                      </a:move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37" y="20"/>
                        <a:pt x="37" y="20"/>
                        <a:pt x="37" y="20"/>
                      </a:cubicBezTo>
                      <a:cubicBezTo>
                        <a:pt x="16" y="25"/>
                        <a:pt x="0" y="44"/>
                        <a:pt x="0" y="66"/>
                      </a:cubicBezTo>
                      <a:cubicBezTo>
                        <a:pt x="0" y="93"/>
                        <a:pt x="22" y="114"/>
                        <a:pt x="48" y="114"/>
                      </a:cubicBezTo>
                      <a:cubicBezTo>
                        <a:pt x="74" y="114"/>
                        <a:pt x="96" y="93"/>
                        <a:pt x="96" y="66"/>
                      </a:cubicBezTo>
                      <a:cubicBezTo>
                        <a:pt x="96" y="44"/>
                        <a:pt x="80" y="25"/>
                        <a:pt x="59" y="20"/>
                      </a:cubicBezTo>
                      <a:close/>
                      <a:moveTo>
                        <a:pt x="48" y="106"/>
                      </a:moveTo>
                      <a:cubicBezTo>
                        <a:pt x="26" y="106"/>
                        <a:pt x="8" y="88"/>
                        <a:pt x="8" y="66"/>
                      </a:cubicBezTo>
                      <a:cubicBezTo>
                        <a:pt x="8" y="44"/>
                        <a:pt x="26" y="27"/>
                        <a:pt x="48" y="27"/>
                      </a:cubicBezTo>
                      <a:cubicBezTo>
                        <a:pt x="70" y="27"/>
                        <a:pt x="88" y="44"/>
                        <a:pt x="88" y="66"/>
                      </a:cubicBezTo>
                      <a:cubicBezTo>
                        <a:pt x="88" y="88"/>
                        <a:pt x="70" y="106"/>
                        <a:pt x="48" y="106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45720" tIns="22860" rIns="45720" bIns="22860" numCol="1" anchor="t" anchorCtr="0" compatLnSpc="1"/>
                <a:p>
                  <a:endParaRPr lang="th-TH" sz="900">
                    <a:solidFill>
                      <a:schemeClr val="bg1">
                        <a:lumMod val="85000"/>
                      </a:schemeClr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38" name="Freeform 14"/>
                <p:cNvSpPr>
                  <a:spLocks noEditPoints="1"/>
                </p:cNvSpPr>
                <p:nvPr>
                  <p:custDataLst>
                    <p:tags r:id="rId13"/>
                  </p:custDataLst>
                </p:nvPr>
              </p:nvSpPr>
              <p:spPr bwMode="auto">
                <a:xfrm>
                  <a:off x="13133388" y="3870325"/>
                  <a:ext cx="2649538" cy="3179763"/>
                </a:xfrm>
                <a:custGeom>
                  <a:avLst/>
                  <a:gdLst>
                    <a:gd name="T0" fmla="*/ 48 w 95"/>
                    <a:gd name="T1" fmla="*/ 0 h 114"/>
                    <a:gd name="T2" fmla="*/ 0 w 95"/>
                    <a:gd name="T3" fmla="*/ 48 h 114"/>
                    <a:gd name="T4" fmla="*/ 36 w 95"/>
                    <a:gd name="T5" fmla="*/ 94 h 114"/>
                    <a:gd name="T6" fmla="*/ 48 w 95"/>
                    <a:gd name="T7" fmla="*/ 114 h 114"/>
                    <a:gd name="T8" fmla="*/ 59 w 95"/>
                    <a:gd name="T9" fmla="*/ 94 h 114"/>
                    <a:gd name="T10" fmla="*/ 95 w 95"/>
                    <a:gd name="T11" fmla="*/ 48 h 114"/>
                    <a:gd name="T12" fmla="*/ 48 w 95"/>
                    <a:gd name="T13" fmla="*/ 0 h 114"/>
                    <a:gd name="T14" fmla="*/ 48 w 95"/>
                    <a:gd name="T15" fmla="*/ 88 h 114"/>
                    <a:gd name="T16" fmla="*/ 8 w 95"/>
                    <a:gd name="T17" fmla="*/ 48 h 114"/>
                    <a:gd name="T18" fmla="*/ 48 w 95"/>
                    <a:gd name="T19" fmla="*/ 8 h 114"/>
                    <a:gd name="T20" fmla="*/ 87 w 95"/>
                    <a:gd name="T21" fmla="*/ 48 h 114"/>
                    <a:gd name="T22" fmla="*/ 48 w 95"/>
                    <a:gd name="T23" fmla="*/ 88 h 1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95" h="114">
                      <a:moveTo>
                        <a:pt x="48" y="0"/>
                      </a:moveTo>
                      <a:cubicBezTo>
                        <a:pt x="21" y="0"/>
                        <a:pt x="0" y="21"/>
                        <a:pt x="0" y="48"/>
                      </a:cubicBezTo>
                      <a:cubicBezTo>
                        <a:pt x="0" y="70"/>
                        <a:pt x="15" y="89"/>
                        <a:pt x="36" y="94"/>
                      </a:cubicBezTo>
                      <a:cubicBezTo>
                        <a:pt x="48" y="114"/>
                        <a:pt x="48" y="114"/>
                        <a:pt x="48" y="114"/>
                      </a:cubicBezTo>
                      <a:cubicBezTo>
                        <a:pt x="59" y="94"/>
                        <a:pt x="59" y="94"/>
                        <a:pt x="59" y="94"/>
                      </a:cubicBezTo>
                      <a:cubicBezTo>
                        <a:pt x="80" y="89"/>
                        <a:pt x="95" y="70"/>
                        <a:pt x="95" y="48"/>
                      </a:cubicBezTo>
                      <a:cubicBezTo>
                        <a:pt x="95" y="21"/>
                        <a:pt x="74" y="0"/>
                        <a:pt x="48" y="0"/>
                      </a:cubicBezTo>
                      <a:close/>
                      <a:moveTo>
                        <a:pt x="48" y="88"/>
                      </a:moveTo>
                      <a:cubicBezTo>
                        <a:pt x="26" y="88"/>
                        <a:pt x="8" y="70"/>
                        <a:pt x="8" y="48"/>
                      </a:cubicBezTo>
                      <a:cubicBezTo>
                        <a:pt x="8" y="26"/>
                        <a:pt x="26" y="8"/>
                        <a:pt x="48" y="8"/>
                      </a:cubicBezTo>
                      <a:cubicBezTo>
                        <a:pt x="69" y="8"/>
                        <a:pt x="87" y="26"/>
                        <a:pt x="87" y="48"/>
                      </a:cubicBezTo>
                      <a:cubicBezTo>
                        <a:pt x="87" y="70"/>
                        <a:pt x="69" y="88"/>
                        <a:pt x="48" y="8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45720" tIns="22860" rIns="45720" bIns="22860" numCol="1" anchor="t" anchorCtr="0" compatLnSpc="1"/>
                <a:p>
                  <a:endParaRPr lang="th-TH" sz="900">
                    <a:solidFill>
                      <a:schemeClr val="bg1">
                        <a:lumMod val="85000"/>
                      </a:schemeClr>
                    </a:solidFill>
                    <a:cs typeface="Inter" panose="02000503000000020004" charset="0"/>
                  </a:endParaRPr>
                </a:p>
              </p:txBody>
            </p:sp>
          </p:grpSp>
          <p:grpSp>
            <p:nvGrpSpPr>
              <p:cNvPr id="28" name="กลุ่ม 21"/>
              <p:cNvGrpSpPr/>
              <p:nvPr/>
            </p:nvGrpSpPr>
            <p:grpSpPr>
              <a:xfrm>
                <a:off x="3866832" y="7933736"/>
                <a:ext cx="3293181" cy="753065"/>
                <a:chOff x="9821246" y="5958900"/>
                <a:chExt cx="3293181" cy="753065"/>
              </a:xfrm>
            </p:grpSpPr>
            <p:sp>
              <p:nvSpPr>
                <p:cNvPr id="29" name="Round Same Side Corner Rectangle 59"/>
                <p:cNvSpPr/>
                <p:nvPr>
                  <p:custDataLst>
                    <p:tags r:id="rId14"/>
                  </p:custDataLst>
                </p:nvPr>
              </p:nvSpPr>
              <p:spPr>
                <a:xfrm rot="5400000">
                  <a:off x="11037255" y="4743353"/>
                  <a:ext cx="753065" cy="3184158"/>
                </a:xfrm>
                <a:prstGeom prst="round2SameRect">
                  <a:avLst>
                    <a:gd name="adj1" fmla="val 50000"/>
                    <a:gd name="adj2" fmla="val 5000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9709" tIns="54855" rIns="109709" bIns="54855" rtlCol="0" anchor="ctr"/>
                <a:p>
                  <a:pPr algn="r"/>
                  <a:endParaRPr lang="bg-BG" sz="900" dirty="0">
                    <a:solidFill>
                      <a:schemeClr val="bg1">
                        <a:lumMod val="85000"/>
                      </a:schemeClr>
                    </a:solidFill>
                    <a:latin typeface="Inter Black" panose="02000503000000020004" charset="0"/>
                    <a:cs typeface="Inter" panose="02000503000000020004" charset="0"/>
                  </a:endParaRPr>
                </a:p>
              </p:txBody>
            </p:sp>
            <p:sp>
              <p:nvSpPr>
                <p:cNvPr id="47" name="TextBox 28"/>
                <p:cNvSpPr txBox="1"/>
                <p:nvPr>
                  <p:custDataLst>
                    <p:tags r:id="rId15"/>
                  </p:custDataLst>
                </p:nvPr>
              </p:nvSpPr>
              <p:spPr>
                <a:xfrm>
                  <a:off x="9821246" y="6028476"/>
                  <a:ext cx="3293181" cy="21331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p>
                  <a:pPr algn="ctr"/>
                  <a:r>
                    <a:rPr lang="en-US" altLang="en-US" sz="1200" dirty="0" smtClean="0">
                      <a:solidFill>
                        <a:schemeClr val="bg1"/>
                      </a:solidFill>
                      <a:latin typeface="Inter Black" panose="02000503000000020004" charset="0"/>
                      <a:ea typeface="Inter Black" panose="02000503000000020004" charset="0"/>
                      <a:cs typeface="Inter Black" panose="02000503000000020004" charset="0"/>
                      <a:sym typeface="+mn-ea"/>
                    </a:rPr>
                    <a:t>ENCAPSULATION</a:t>
                  </a:r>
                  <a:endParaRPr lang="en-US" altLang="en-US" sz="1200" dirty="0" smtClean="0">
                    <a:solidFill>
                      <a:schemeClr val="bg1"/>
                    </a:solidFill>
                    <a:latin typeface="Inter Black" panose="02000503000000020004" charset="0"/>
                    <a:ea typeface="Inter Black" panose="02000503000000020004" charset="0"/>
                    <a:cs typeface="Inter Black" panose="02000503000000020004" charset="0"/>
                    <a:sym typeface="+mn-ea"/>
                  </a:endParaRPr>
                </a:p>
              </p:txBody>
            </p:sp>
          </p:grpSp>
          <p:sp>
            <p:nvSpPr>
              <p:cNvPr id="48" name="TextBox 8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3340417" y="8819698"/>
                <a:ext cx="4288632" cy="2156271"/>
              </a:xfrm>
              <a:prstGeom prst="rect">
                <a:avLst/>
              </a:prstGeom>
              <a:noFill/>
            </p:spPr>
            <p:txBody>
              <a:bodyPr wrap="square" lIns="109709" tIns="54855" rIns="109709" bIns="54855" rtlCol="0">
                <a:spAutoFit/>
              </a:bodyPr>
              <a:p>
                <a:pPr algn="ctr">
                  <a:lnSpc>
                    <a:spcPct val="150000"/>
                  </a:lnSpc>
                </a:pPr>
                <a:r>
                  <a:rPr lang="en-US" altLang="en-US" sz="1400">
                    <a:solidFill>
                      <a:schemeClr val="bg1">
                        <a:lumMod val="85000"/>
                      </a:schemeClr>
                    </a:solidFill>
                    <a:latin typeface="Inter Black" panose="02000503000000020004" charset="0"/>
                    <a:ea typeface="Inter Black" panose="02000503000000020004" charset="0"/>
                    <a:cs typeface="Inter Black" panose="02000503000000020004" charset="0"/>
                    <a:sym typeface="+mn-ea"/>
                  </a:rPr>
                  <a:t>   Data hiding &amp; bundling</a:t>
                </a:r>
                <a:endParaRPr lang="en-US" altLang="en-US" sz="140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endParaRPr>
              </a:p>
              <a:p>
                <a:pPr algn="ctr">
                  <a:lnSpc>
                    <a:spcPct val="150000"/>
                  </a:lnSpc>
                </a:pPr>
                <a:endParaRPr lang="en-US" altLang="en-US" sz="140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endParaRPr>
              </a:p>
            </p:txBody>
          </p:sp>
          <p:grpSp>
            <p:nvGrpSpPr>
              <p:cNvPr id="49" name="กลุ่ม 30"/>
              <p:cNvGrpSpPr/>
              <p:nvPr/>
            </p:nvGrpSpPr>
            <p:grpSpPr>
              <a:xfrm>
                <a:off x="8193651" y="4038601"/>
                <a:ext cx="3293181" cy="753065"/>
                <a:chOff x="9821246" y="5958900"/>
                <a:chExt cx="3293181" cy="753065"/>
              </a:xfrm>
            </p:grpSpPr>
            <p:sp>
              <p:nvSpPr>
                <p:cNvPr id="50" name="Round Same Side Corner Rectangle 59"/>
                <p:cNvSpPr/>
                <p:nvPr>
                  <p:custDataLst>
                    <p:tags r:id="rId17"/>
                  </p:custDataLst>
                </p:nvPr>
              </p:nvSpPr>
              <p:spPr>
                <a:xfrm rot="5400000">
                  <a:off x="11037255" y="4743353"/>
                  <a:ext cx="753065" cy="3184158"/>
                </a:xfrm>
                <a:prstGeom prst="round2SameRect">
                  <a:avLst>
                    <a:gd name="adj1" fmla="val 50000"/>
                    <a:gd name="adj2" fmla="val 50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9709" tIns="54855" rIns="109709" bIns="54855" rtlCol="0" anchor="ctr"/>
                <a:p>
                  <a:pPr algn="r"/>
                  <a:endParaRPr lang="bg-BG" sz="900" dirty="0">
                    <a:solidFill>
                      <a:schemeClr val="bg1">
                        <a:lumMod val="85000"/>
                      </a:schemeClr>
                    </a:solidFill>
                    <a:latin typeface="Inter Black" panose="02000503000000020004" charset="0"/>
                    <a:cs typeface="Inter" panose="02000503000000020004" charset="0"/>
                  </a:endParaRPr>
                </a:p>
              </p:txBody>
            </p:sp>
            <p:sp>
              <p:nvSpPr>
                <p:cNvPr id="52" name="TextBox 26"/>
                <p:cNvSpPr txBox="1"/>
                <p:nvPr>
                  <p:custDataLst>
                    <p:tags r:id="rId18"/>
                  </p:custDataLst>
                </p:nvPr>
              </p:nvSpPr>
              <p:spPr>
                <a:xfrm>
                  <a:off x="9821246" y="6028476"/>
                  <a:ext cx="3293181" cy="43049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p>
                  <a:pPr algn="ctr"/>
                  <a:r>
                    <a:rPr lang="en-US" altLang="en-US" sz="1400" dirty="0" smtClean="0">
                      <a:solidFill>
                        <a:schemeClr val="bg1"/>
                      </a:solidFill>
                      <a:latin typeface="Inter Black" panose="02000503000000020004" charset="0"/>
                      <a:ea typeface="Inter Black" panose="02000503000000020004" charset="0"/>
                      <a:cs typeface="Inter Black" panose="02000503000000020004" charset="0"/>
                      <a:sym typeface="+mn-ea"/>
                    </a:rPr>
                    <a:t>INHERITANCE</a:t>
                  </a:r>
                  <a:endParaRPr lang="en-US" altLang="en-US" sz="1400" dirty="0" smtClean="0">
                    <a:solidFill>
                      <a:schemeClr val="bg1"/>
                    </a:solidFill>
                    <a:latin typeface="Inter Black" panose="02000503000000020004" charset="0"/>
                    <a:ea typeface="Inter Black" panose="02000503000000020004" charset="0"/>
                    <a:cs typeface="Inter Black" panose="02000503000000020004" charset="0"/>
                    <a:sym typeface="+mn-ea"/>
                  </a:endParaRPr>
                </a:p>
              </p:txBody>
            </p:sp>
          </p:grpSp>
          <p:sp>
            <p:nvSpPr>
              <p:cNvPr id="53" name="TextBox 10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7648257" y="4996180"/>
                <a:ext cx="4283710" cy="1325764"/>
              </a:xfrm>
              <a:prstGeom prst="rect">
                <a:avLst/>
              </a:prstGeom>
              <a:noFill/>
            </p:spPr>
            <p:txBody>
              <a:bodyPr wrap="square" lIns="109709" tIns="54855" rIns="109709" bIns="54855" rtlCol="0">
                <a:spAutoFit/>
              </a:bodyPr>
              <a:p>
                <a:pPr algn="ctr">
                  <a:lnSpc>
                    <a:spcPct val="150000"/>
                  </a:lnSpc>
                </a:pPr>
                <a:r>
                  <a:rPr lang="en-US" altLang="en-US" sz="1200" dirty="0">
                    <a:solidFill>
                      <a:schemeClr val="bg1">
                        <a:lumMod val="85000"/>
                      </a:schemeClr>
                    </a:solidFill>
                    <a:latin typeface="Inter Black" panose="02000503000000020004" charset="0"/>
                    <a:ea typeface="Inter Black" panose="02000503000000020004" charset="0"/>
                    <a:cs typeface="Inter Black" panose="02000503000000020004" charset="0"/>
                    <a:sym typeface="+mn-ea"/>
                  </a:rPr>
                  <a:t>   Code reusability</a:t>
                </a:r>
                <a:endParaRPr lang="en-US" altLang="en-US" sz="12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endParaRPr>
              </a:p>
              <a:p>
                <a:pPr algn="ctr">
                  <a:lnSpc>
                    <a:spcPct val="150000"/>
                  </a:lnSpc>
                </a:pPr>
                <a:endParaRPr lang="en-US" altLang="en-US" sz="12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endParaRPr>
              </a:p>
            </p:txBody>
          </p:sp>
          <p:grpSp>
            <p:nvGrpSpPr>
              <p:cNvPr id="54" name="กลุ่ม 34"/>
              <p:cNvGrpSpPr/>
              <p:nvPr/>
            </p:nvGrpSpPr>
            <p:grpSpPr>
              <a:xfrm>
                <a:off x="12858895" y="7857536"/>
                <a:ext cx="3328278" cy="753065"/>
                <a:chOff x="9821709" y="5958900"/>
                <a:chExt cx="3328278" cy="753065"/>
              </a:xfrm>
            </p:grpSpPr>
            <p:sp>
              <p:nvSpPr>
                <p:cNvPr id="55" name="Round Same Side Corner Rectangle 59"/>
                <p:cNvSpPr/>
                <p:nvPr>
                  <p:custDataLst>
                    <p:tags r:id="rId20"/>
                  </p:custDataLst>
                </p:nvPr>
              </p:nvSpPr>
              <p:spPr>
                <a:xfrm rot="5400000">
                  <a:off x="11037255" y="4743353"/>
                  <a:ext cx="753065" cy="3184158"/>
                </a:xfrm>
                <a:prstGeom prst="round2SameRect">
                  <a:avLst>
                    <a:gd name="adj1" fmla="val 50000"/>
                    <a:gd name="adj2" fmla="val 50000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9709" tIns="54855" rIns="109709" bIns="54855" rtlCol="0" anchor="ctr"/>
                <a:p>
                  <a:pPr algn="r"/>
                  <a:endParaRPr lang="bg-BG" sz="900" dirty="0">
                    <a:solidFill>
                      <a:schemeClr val="bg1">
                        <a:lumMod val="85000"/>
                      </a:schemeClr>
                    </a:solidFill>
                    <a:latin typeface="Inter Black" panose="02000503000000020004" charset="0"/>
                    <a:cs typeface="Inter" panose="02000503000000020004" charset="0"/>
                  </a:endParaRPr>
                </a:p>
              </p:txBody>
            </p:sp>
            <p:sp>
              <p:nvSpPr>
                <p:cNvPr id="73" name="TextBox 24"/>
                <p:cNvSpPr txBox="1"/>
                <p:nvPr>
                  <p:custDataLst>
                    <p:tags r:id="rId21"/>
                  </p:custDataLst>
                </p:nvPr>
              </p:nvSpPr>
              <p:spPr>
                <a:xfrm>
                  <a:off x="9856806" y="6036096"/>
                  <a:ext cx="3293181" cy="21207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p>
                  <a:pPr algn="ctr"/>
                  <a:r>
                    <a:rPr lang="en-US" altLang="en-US" sz="1200" dirty="0" smtClean="0">
                      <a:solidFill>
                        <a:schemeClr val="bg1"/>
                      </a:solidFill>
                      <a:latin typeface="Inter Black" panose="02000503000000020004" charset="0"/>
                      <a:ea typeface="Inter Black" panose="02000503000000020004" charset="0"/>
                      <a:cs typeface="Inter Black" panose="02000503000000020004" charset="0"/>
                      <a:sym typeface="+mn-ea"/>
                    </a:rPr>
                    <a:t>POLYMORPHISM</a:t>
                  </a:r>
                  <a:endParaRPr lang="en-US" altLang="en-US" sz="1200" dirty="0" smtClean="0">
                    <a:solidFill>
                      <a:schemeClr val="bg1"/>
                    </a:solidFill>
                    <a:latin typeface="Inter Black" panose="02000503000000020004" charset="0"/>
                    <a:ea typeface="Inter Black" panose="02000503000000020004" charset="0"/>
                    <a:cs typeface="Inter Black" panose="02000503000000020004" charset="0"/>
                    <a:sym typeface="+mn-ea"/>
                  </a:endParaRPr>
                </a:p>
              </p:txBody>
            </p:sp>
          </p:grpSp>
          <p:grpSp>
            <p:nvGrpSpPr>
              <p:cNvPr id="74" name="กลุ่ม 38"/>
              <p:cNvGrpSpPr/>
              <p:nvPr/>
            </p:nvGrpSpPr>
            <p:grpSpPr>
              <a:xfrm>
                <a:off x="17125632" y="4114801"/>
                <a:ext cx="3293181" cy="753065"/>
                <a:chOff x="9821246" y="5958900"/>
                <a:chExt cx="3293181" cy="753065"/>
              </a:xfrm>
            </p:grpSpPr>
            <p:sp>
              <p:nvSpPr>
                <p:cNvPr id="75" name="Round Same Side Corner Rectangle 59"/>
                <p:cNvSpPr/>
                <p:nvPr>
                  <p:custDataLst>
                    <p:tags r:id="rId22"/>
                  </p:custDataLst>
                </p:nvPr>
              </p:nvSpPr>
              <p:spPr>
                <a:xfrm rot="5400000">
                  <a:off x="11037255" y="4743353"/>
                  <a:ext cx="753065" cy="3184158"/>
                </a:xfrm>
                <a:prstGeom prst="round2SameRect">
                  <a:avLst>
                    <a:gd name="adj1" fmla="val 50000"/>
                    <a:gd name="adj2" fmla="val 50000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9709" tIns="54855" rIns="109709" bIns="54855" rtlCol="0" anchor="ctr"/>
                <a:p>
                  <a:pPr algn="r"/>
                  <a:endParaRPr lang="bg-BG" sz="900" dirty="0">
                    <a:solidFill>
                      <a:schemeClr val="bg1">
                        <a:lumMod val="85000"/>
                      </a:schemeClr>
                    </a:solidFill>
                    <a:latin typeface="Inter Black" panose="02000503000000020004" charset="0"/>
                    <a:cs typeface="Inter" panose="02000503000000020004" charset="0"/>
                  </a:endParaRPr>
                </a:p>
              </p:txBody>
            </p:sp>
            <p:sp>
              <p:nvSpPr>
                <p:cNvPr id="76" name="TextBox 22"/>
                <p:cNvSpPr txBox="1"/>
                <p:nvPr>
                  <p:custDataLst>
                    <p:tags r:id="rId23"/>
                  </p:custDataLst>
                </p:nvPr>
              </p:nvSpPr>
              <p:spPr>
                <a:xfrm>
                  <a:off x="9821246" y="6028476"/>
                  <a:ext cx="3293181" cy="24935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p>
                  <a:pPr algn="ctr"/>
                  <a:r>
                    <a:rPr lang="en-US" altLang="en-US" sz="1400" dirty="0" smtClean="0">
                      <a:solidFill>
                        <a:schemeClr val="bg1"/>
                      </a:solidFill>
                      <a:latin typeface="Inter Black" panose="02000503000000020004" charset="0"/>
                      <a:ea typeface="Inter Black" panose="02000503000000020004" charset="0"/>
                      <a:cs typeface="Inter Black" panose="02000503000000020004" charset="0"/>
                      <a:sym typeface="+mn-ea"/>
                    </a:rPr>
                    <a:t>ABSTRACTION</a:t>
                  </a:r>
                  <a:endParaRPr lang="en-US" altLang="en-US" sz="1400" dirty="0" smtClean="0">
                    <a:solidFill>
                      <a:schemeClr val="bg1"/>
                    </a:solidFill>
                    <a:latin typeface="Inter Black" panose="02000503000000020004" charset="0"/>
                    <a:ea typeface="Inter Black" panose="02000503000000020004" charset="0"/>
                    <a:cs typeface="Inter Black" panose="02000503000000020004" charset="0"/>
                    <a:sym typeface="+mn-ea"/>
                  </a:endParaRPr>
                </a:p>
              </p:txBody>
            </p:sp>
          </p:grpSp>
        </p:grpSp>
        <p:pic>
          <p:nvPicPr>
            <p:cNvPr id="77" name="图片 76" descr="343439383331313b343532303032383bbfcdbba7b9dcc0ed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3962" y="3816"/>
              <a:ext cx="798" cy="798"/>
            </a:xfrm>
            <a:prstGeom prst="rect">
              <a:avLst/>
            </a:prstGeom>
          </p:spPr>
        </p:pic>
        <p:pic>
          <p:nvPicPr>
            <p:cNvPr id="78" name="图片 77" descr="343439383331313b343532303032373bbfcdbba7b5b5b0b8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7494" y="7442"/>
              <a:ext cx="795" cy="795"/>
            </a:xfrm>
            <a:prstGeom prst="rect">
              <a:avLst/>
            </a:prstGeom>
          </p:spPr>
        </p:pic>
        <p:pic>
          <p:nvPicPr>
            <p:cNvPr id="79" name="图片 78" descr="343435383037343b343532333834323bbdb1b1ad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11040" y="3816"/>
              <a:ext cx="801" cy="801"/>
            </a:xfrm>
            <a:prstGeom prst="rect">
              <a:avLst/>
            </a:prstGeom>
          </p:spPr>
        </p:pic>
        <p:pic>
          <p:nvPicPr>
            <p:cNvPr id="80" name="图片 79" descr="343435383038363b343532323338393bbacfd7f7bbfad6c6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4513" y="7411"/>
              <a:ext cx="857" cy="857"/>
            </a:xfrm>
            <a:prstGeom prst="rect">
              <a:avLst/>
            </a:prstGeom>
          </p:spPr>
        </p:pic>
        <p:sp>
          <p:nvSpPr>
            <p:cNvPr id="81" name="TextBox 10"/>
            <p:cNvSpPr txBox="1"/>
            <p:nvPr>
              <p:custDataLst>
                <p:tags r:id="rId36"/>
              </p:custDataLst>
            </p:nvPr>
          </p:nvSpPr>
          <p:spPr>
            <a:xfrm>
              <a:off x="9715" y="7152"/>
              <a:ext cx="3373" cy="1044"/>
            </a:xfrm>
            <a:prstGeom prst="rect">
              <a:avLst/>
            </a:prstGeom>
            <a:noFill/>
          </p:spPr>
          <p:txBody>
            <a:bodyPr wrap="square" lIns="109709" tIns="54855" rIns="109709" bIns="54855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en-US" sz="12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   Multiple forms</a:t>
              </a:r>
              <a:endParaRPr lang="en-US" altLang="en-US" sz="12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algn="ctr">
                <a:lnSpc>
                  <a:spcPct val="150000"/>
                </a:lnSpc>
              </a:pPr>
              <a:endParaRPr lang="en-US" altLang="en-US" sz="12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82" name="TextBox 10"/>
            <p:cNvSpPr txBox="1"/>
            <p:nvPr>
              <p:custDataLst>
                <p:tags r:id="rId37"/>
              </p:custDataLst>
            </p:nvPr>
          </p:nvSpPr>
          <p:spPr>
            <a:xfrm>
              <a:off x="13114" y="4227"/>
              <a:ext cx="3373" cy="1044"/>
            </a:xfrm>
            <a:prstGeom prst="rect">
              <a:avLst/>
            </a:prstGeom>
            <a:noFill/>
          </p:spPr>
          <p:txBody>
            <a:bodyPr wrap="square" lIns="109709" tIns="54855" rIns="109709" bIns="54855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en-US" sz="12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  Complexity hiding</a:t>
              </a:r>
              <a:endParaRPr lang="en-US" altLang="en-US" sz="12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algn="ctr">
                <a:lnSpc>
                  <a:spcPct val="150000"/>
                </a:lnSpc>
              </a:pPr>
              <a:endParaRPr lang="en-US" altLang="en-US" sz="12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</p:grpSp>
    </p:spTree>
    <p:custDataLst>
      <p:tags r:id="rId38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890" y="305435"/>
            <a:ext cx="12183110" cy="6858000"/>
          </a:xfrm>
          <a:prstGeom prst="rect">
            <a:avLst/>
          </a:prstGeom>
        </p:spPr>
      </p:pic>
      <p:sp>
        <p:nvSpPr>
          <p:cNvPr id="2" name="平行四边形 1"/>
          <p:cNvSpPr/>
          <p:nvPr>
            <p:custDataLst>
              <p:tags r:id="rId2"/>
            </p:custDataLst>
          </p:nvPr>
        </p:nvSpPr>
        <p:spPr>
          <a:xfrm rot="10800000" flipH="1">
            <a:off x="1329690" y="1732915"/>
            <a:ext cx="10217150" cy="3876040"/>
          </a:xfrm>
          <a:prstGeom prst="parallelogram">
            <a:avLst>
              <a:gd name="adj" fmla="val 0"/>
            </a:avLst>
          </a:prstGeom>
          <a:solidFill>
            <a:schemeClr val="accent3">
              <a:alpha val="10000"/>
            </a:schemeClr>
          </a:solidFill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39" name="任意多边形: 形状 138"/>
          <p:cNvSpPr/>
          <p:nvPr>
            <p:custDataLst>
              <p:tags r:id="rId3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Encapsulation</a:t>
            </a:r>
            <a:endParaRPr lang="en-US" altLang="en-US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634" name="Nullam id dolor id nibh ultricies vehicula ut id elit."/>
          <p:cNvSpPr/>
          <p:nvPr/>
        </p:nvSpPr>
        <p:spPr>
          <a:xfrm>
            <a:off x="7355205" y="3310255"/>
            <a:ext cx="3282315" cy="5810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2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 ✅ Protects data</a:t>
            </a:r>
            <a:endParaRPr lang="en-US" altLang="en-US" sz="1200" dirty="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1200" dirty="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638" name="Vestibulum id ligula porta felis euismod semper"/>
          <p:cNvSpPr/>
          <p:nvPr/>
        </p:nvSpPr>
        <p:spPr>
          <a:xfrm>
            <a:off x="7355205" y="3856355"/>
            <a:ext cx="3139440" cy="34099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2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✅ Controlled access</a:t>
            </a:r>
            <a:endParaRPr lang="en-US" altLang="en-US" sz="1200" dirty="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642" name="Nullam id dolor id nibh ultricies vehicula ut id elit."/>
          <p:cNvSpPr/>
          <p:nvPr/>
        </p:nvSpPr>
        <p:spPr>
          <a:xfrm>
            <a:off x="7355205" y="4285615"/>
            <a:ext cx="3281045" cy="34099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2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✅ Maintainable code</a:t>
            </a:r>
            <a:endParaRPr lang="en-US" altLang="en-US" sz="1200" dirty="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543050" y="1919605"/>
            <a:ext cx="4525645" cy="82994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400">
                <a:solidFill>
                  <a:schemeClr val="accent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🔒</a:t>
            </a:r>
            <a:r>
              <a:rPr lang="en-US" altLang="en-US" sz="2400">
                <a:solidFill>
                  <a:schemeClr val="accent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 Encapsulation Example</a:t>
            </a:r>
            <a:endParaRPr lang="en-US" altLang="en-US" sz="2400">
              <a:solidFill>
                <a:schemeClr val="accent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algn="l"/>
            <a:endParaRPr lang="en-US" altLang="en-US" sz="2400">
              <a:solidFill>
                <a:schemeClr val="accent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819275" y="2515870"/>
            <a:ext cx="4939665" cy="298132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public class BankAccount {</a:t>
            </a:r>
            <a:endParaRPr lang="en-US" altLang="en-US" dirty="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    private double balance; // Data hiding</a:t>
            </a:r>
            <a:endParaRPr lang="en-US" altLang="en-US" dirty="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    </a:t>
            </a:r>
            <a:endParaRPr lang="en-US" altLang="en-US" dirty="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    public void deposit(double amount) {</a:t>
            </a:r>
            <a:endParaRPr lang="en-US" altLang="en-US" dirty="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        if(amount &gt; 0) balance += amount;</a:t>
            </a:r>
            <a:endParaRPr lang="en-US" altLang="en-US" dirty="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    }</a:t>
            </a:r>
            <a:endParaRPr lang="en-US" altLang="en-US" dirty="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}</a:t>
            </a:r>
            <a:endParaRPr lang="en-US" altLang="en-US" dirty="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41" name="平行四边形 40"/>
          <p:cNvSpPr/>
          <p:nvPr>
            <p:custDataLst>
              <p:tags r:id="rId2"/>
            </p:custDataLst>
          </p:nvPr>
        </p:nvSpPr>
        <p:spPr>
          <a:xfrm rot="10800000" flipH="1">
            <a:off x="926465" y="1130618"/>
            <a:ext cx="10328275" cy="4986020"/>
          </a:xfrm>
          <a:prstGeom prst="parallelogram">
            <a:avLst>
              <a:gd name="adj" fmla="val 0"/>
            </a:avLst>
          </a:prstGeom>
          <a:solidFill>
            <a:schemeClr val="accent3">
              <a:alpha val="10000"/>
            </a:schemeClr>
          </a:solidFill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39" name="任意多边形: 形状 138"/>
          <p:cNvSpPr/>
          <p:nvPr>
            <p:custDataLst>
              <p:tags r:id="rId3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Inheritance</a:t>
            </a:r>
            <a:endParaRPr lang="en-US" altLang="en-US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6" name="组合 5"/>
          <p:cNvGrpSpPr/>
          <p:nvPr>
            <p:custDataLst>
              <p:tags r:id="rId4"/>
            </p:custDataLst>
          </p:nvPr>
        </p:nvGrpSpPr>
        <p:grpSpPr>
          <a:xfrm>
            <a:off x="1677353" y="1901825"/>
            <a:ext cx="5772785" cy="3632835"/>
            <a:chOff x="2889" y="3169"/>
            <a:chExt cx="9091" cy="5721"/>
          </a:xfrm>
        </p:grpSpPr>
        <p:sp>
          <p:nvSpPr>
            <p:cNvPr id="28" name="TextBox 27"/>
            <p:cNvSpPr txBox="1"/>
            <p:nvPr>
              <p:custDataLst>
                <p:tags r:id="rId5"/>
              </p:custDataLst>
            </p:nvPr>
          </p:nvSpPr>
          <p:spPr>
            <a:xfrm>
              <a:off x="2889" y="3169"/>
              <a:ext cx="6160" cy="96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algn="ctr"/>
              <a:r>
                <a:rPr lang="en-US" altLang="en-US" sz="2000" dirty="0" smtClean="0">
                  <a:solidFill>
                    <a:schemeClr val="bg1"/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Inheritance Example</a:t>
              </a:r>
              <a:endParaRPr lang="en-US" altLang="en-US" sz="2000" dirty="0" smtClean="0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algn="ctr"/>
              <a:endParaRPr lang="en-US" altLang="en-US" sz="2000" dirty="0" smtClean="0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29" name="TextBox 28"/>
            <p:cNvSpPr txBox="1"/>
            <p:nvPr>
              <p:custDataLst>
                <p:tags r:id="rId6"/>
              </p:custDataLst>
            </p:nvPr>
          </p:nvSpPr>
          <p:spPr>
            <a:xfrm>
              <a:off x="2889" y="4138"/>
              <a:ext cx="9091" cy="4752"/>
            </a:xfrm>
            <a:prstGeom prst="rect">
              <a:avLst/>
            </a:prstGeom>
            <a:noFill/>
          </p:spPr>
          <p:txBody>
            <a:bodyPr wrap="square" lIns="109709" tIns="54855" rIns="109709" bIns="54855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en-US" altLang="en-US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class Animal {</a:t>
              </a:r>
              <a:endParaRPr lang="en-US" altLang="en-US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en-US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    void eat() { System.out.println("Eating..."); }</a:t>
              </a:r>
              <a:endParaRPr lang="en-US" altLang="en-US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en-US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}</a:t>
              </a:r>
              <a:endParaRPr lang="en-US" altLang="en-US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algn="l">
                <a:lnSpc>
                  <a:spcPct val="150000"/>
                </a:lnSpc>
              </a:pPr>
              <a:endParaRPr lang="en-US" altLang="en-US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en-US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class Dog extends Animal {</a:t>
              </a:r>
              <a:endParaRPr lang="en-US" altLang="en-US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en-US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    void bark() { System.out.println("Barking..."); }</a:t>
              </a:r>
              <a:endParaRPr lang="en-US" altLang="en-US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en-US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}</a:t>
              </a:r>
              <a:endParaRPr lang="en-US" altLang="en-US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</p:grpSp>
      <p:sp>
        <p:nvSpPr>
          <p:cNvPr id="43" name="Text Box 42"/>
          <p:cNvSpPr txBox="1"/>
          <p:nvPr/>
        </p:nvSpPr>
        <p:spPr>
          <a:xfrm>
            <a:off x="7517765" y="2211705"/>
            <a:ext cx="4217035" cy="2435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solidFill>
                  <a:schemeClr val="bg1"/>
                </a:solidFill>
              </a:rPr>
              <a:t>✅ Code reuse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✅ Method overriding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✅ Hierarchical structure</a:t>
            </a:r>
            <a:endParaRPr lang="en-US" altLang="en-US">
              <a:solidFill>
                <a:schemeClr val="bg1"/>
              </a:solidFill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64" name="平行四边形 63"/>
          <p:cNvSpPr/>
          <p:nvPr>
            <p:custDataLst>
              <p:tags r:id="rId2"/>
            </p:custDataLst>
          </p:nvPr>
        </p:nvSpPr>
        <p:spPr>
          <a:xfrm rot="10800000">
            <a:off x="538480" y="1551940"/>
            <a:ext cx="5401310" cy="4341495"/>
          </a:xfrm>
          <a:prstGeom prst="parallelogram">
            <a:avLst>
              <a:gd name="adj" fmla="val 0"/>
            </a:avLst>
          </a:prstGeom>
          <a:solidFill>
            <a:schemeClr val="accent3">
              <a:alpha val="5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39" name="任意多边形: 形状 138"/>
          <p:cNvSpPr/>
          <p:nvPr>
            <p:custDataLst>
              <p:tags r:id="rId3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Polymorphism</a:t>
            </a:r>
            <a:endParaRPr lang="en-US" altLang="en-US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4"/>
            </p:custDataLst>
          </p:nvPr>
        </p:nvGrpSpPr>
        <p:grpSpPr>
          <a:xfrm>
            <a:off x="712470" y="1877060"/>
            <a:ext cx="5453380" cy="3892550"/>
            <a:chOff x="2613" y="2956"/>
            <a:chExt cx="6062" cy="6130"/>
          </a:xfrm>
        </p:grpSpPr>
        <p:sp>
          <p:nvSpPr>
            <p:cNvPr id="19" name="TextBox 34"/>
            <p:cNvSpPr txBox="1"/>
            <p:nvPr>
              <p:custDataLst>
                <p:tags r:id="rId5"/>
              </p:custDataLst>
            </p:nvPr>
          </p:nvSpPr>
          <p:spPr>
            <a:xfrm>
              <a:off x="2613" y="2956"/>
              <a:ext cx="6062" cy="16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lvl="0" algn="l">
                <a:lnSpc>
                  <a:spcPct val="130000"/>
                </a:lnSpc>
                <a:spcAft>
                  <a:spcPts val="1000"/>
                </a:spcAft>
                <a:buClrTx/>
                <a:buSzTx/>
                <a:buFontTx/>
                <a:defRPr/>
              </a:pPr>
              <a:r>
                <a:rPr lang="en-US" altLang="en-US" sz="12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COMPILE-TIME (Overloading):</a:t>
              </a:r>
              <a:endParaRPr lang="en-US" altLang="en-US" sz="12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lvl="0" algn="l">
                <a:lnSpc>
                  <a:spcPct val="130000"/>
                </a:lnSpc>
                <a:spcAft>
                  <a:spcPts val="1000"/>
                </a:spcAft>
                <a:buClrTx/>
                <a:buSzTx/>
                <a:buFontTx/>
                <a:defRPr/>
              </a:pPr>
              <a:r>
                <a:rPr lang="en-US" altLang="en-US" sz="12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int add(int a, int b)</a:t>
              </a:r>
              <a:endParaRPr lang="en-US" altLang="en-US" sz="12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lvl="0" algn="l">
                <a:lnSpc>
                  <a:spcPct val="130000"/>
                </a:lnSpc>
                <a:spcAft>
                  <a:spcPts val="1000"/>
                </a:spcAft>
                <a:buClrTx/>
                <a:buSzTx/>
                <a:buFontTx/>
                <a:defRPr/>
              </a:pPr>
              <a:r>
                <a:rPr lang="en-US" altLang="en-US" sz="12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double add(double a, double b)</a:t>
              </a:r>
              <a:endParaRPr lang="en-US" altLang="en-US" sz="12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20" name="TextBox 34"/>
            <p:cNvSpPr txBox="1"/>
            <p:nvPr>
              <p:custDataLst>
                <p:tags r:id="rId6"/>
              </p:custDataLst>
            </p:nvPr>
          </p:nvSpPr>
          <p:spPr>
            <a:xfrm>
              <a:off x="2613" y="4704"/>
              <a:ext cx="6062" cy="22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lvl="0" algn="l">
                <a:lnSpc>
                  <a:spcPct val="130000"/>
                </a:lnSpc>
                <a:spcAft>
                  <a:spcPts val="1000"/>
                </a:spcAft>
                <a:buClrTx/>
                <a:buSzTx/>
                <a:buFontTx/>
                <a:defRPr/>
              </a:pPr>
              <a:endParaRPr lang="en-US" altLang="en-US" sz="12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lvl="0" algn="l">
                <a:lnSpc>
                  <a:spcPct val="130000"/>
                </a:lnSpc>
                <a:spcAft>
                  <a:spcPts val="1000"/>
                </a:spcAft>
                <a:buClrTx/>
                <a:buSzTx/>
                <a:buFontTx/>
                <a:defRPr/>
              </a:pPr>
              <a:r>
                <a:rPr lang="en-US" altLang="en-US" sz="12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RUNTIME (Overriding):</a:t>
              </a:r>
              <a:endParaRPr lang="en-US" altLang="en-US" sz="12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lvl="0" algn="l">
                <a:lnSpc>
                  <a:spcPct val="130000"/>
                </a:lnSpc>
                <a:spcAft>
                  <a:spcPts val="1000"/>
                </a:spcAft>
                <a:buClrTx/>
                <a:buSzTx/>
                <a:buFontTx/>
                <a:defRPr/>
              </a:pPr>
              <a:r>
                <a:rPr lang="en-US" altLang="en-US" sz="12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class Animal { void sound() }</a:t>
              </a:r>
              <a:endParaRPr lang="en-US" altLang="en-US" sz="12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lvl="0" algn="l">
                <a:lnSpc>
                  <a:spcPct val="130000"/>
                </a:lnSpc>
                <a:spcAft>
                  <a:spcPts val="1000"/>
                </a:spcAft>
                <a:buClrTx/>
                <a:buSzTx/>
                <a:buFontTx/>
                <a:defRPr/>
              </a:pPr>
              <a:r>
                <a:rPr lang="en-US" altLang="en-US" sz="12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class Cat extends Animal { void sound() }</a:t>
              </a:r>
              <a:endParaRPr lang="en-US" altLang="en-US" sz="12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22" name="TextBox 34"/>
            <p:cNvSpPr txBox="1"/>
            <p:nvPr>
              <p:custDataLst>
                <p:tags r:id="rId7"/>
              </p:custDataLst>
            </p:nvPr>
          </p:nvSpPr>
          <p:spPr>
            <a:xfrm>
              <a:off x="2613" y="7985"/>
              <a:ext cx="6062" cy="11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lvl="0" algn="l">
                <a:lnSpc>
                  <a:spcPct val="130000"/>
                </a:lnSpc>
                <a:spcAft>
                  <a:spcPts val="1000"/>
                </a:spcAft>
                <a:buClrTx/>
                <a:buSzTx/>
                <a:buFontTx/>
                <a:defRPr/>
              </a:pPr>
              <a:r>
                <a:rPr lang="en-US" altLang="en-US" sz="12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✅ Flexible code</a:t>
              </a:r>
              <a:endParaRPr lang="en-US" altLang="en-US" sz="12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lvl="0" algn="l">
                <a:lnSpc>
                  <a:spcPct val="130000"/>
                </a:lnSpc>
                <a:spcAft>
                  <a:spcPts val="1000"/>
                </a:spcAft>
                <a:buClrTx/>
                <a:buSzTx/>
                <a:buFontTx/>
                <a:defRPr/>
              </a:pPr>
              <a:r>
                <a:rPr lang="en-US" altLang="en-US" sz="12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✅ Easy extensibility</a:t>
              </a:r>
              <a:endParaRPr lang="en-US" altLang="en-US" sz="12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</p:grpSp>
      <p:pic>
        <p:nvPicPr>
          <p:cNvPr id="34" name="图片 33" descr="VCG211226878736"/>
          <p:cNvPicPr>
            <a:picLocks noChangeAspect="1"/>
          </p:cNvPicPr>
          <p:nvPr/>
        </p:nvPicPr>
        <p:blipFill>
          <a:blip r:embed="rId8"/>
          <a:srcRect l="31035" t="9" r="373" b="-9"/>
          <a:stretch>
            <a:fillRect/>
          </a:stretch>
        </p:blipFill>
        <p:spPr>
          <a:xfrm>
            <a:off x="7475220" y="1734820"/>
            <a:ext cx="4491355" cy="368236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平行四边形 40"/>
          <p:cNvSpPr/>
          <p:nvPr>
            <p:custDataLst>
              <p:tags r:id="rId1"/>
            </p:custDataLst>
          </p:nvPr>
        </p:nvSpPr>
        <p:spPr>
          <a:xfrm rot="10800000" flipH="1">
            <a:off x="6730365" y="1130935"/>
            <a:ext cx="4511040" cy="3843655"/>
          </a:xfrm>
          <a:prstGeom prst="parallelogram">
            <a:avLst>
              <a:gd name="adj" fmla="val 0"/>
            </a:avLst>
          </a:prstGeom>
          <a:solidFill>
            <a:schemeClr val="accent3">
              <a:alpha val="10000"/>
            </a:schemeClr>
          </a:solidFill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3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Abstraction</a:t>
            </a:r>
            <a:endParaRPr lang="en-US" altLang="en-US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18" name="Text Box 17"/>
          <p:cNvSpPr txBox="1"/>
          <p:nvPr/>
        </p:nvSpPr>
        <p:spPr>
          <a:xfrm>
            <a:off x="7188200" y="1379855"/>
            <a:ext cx="2978785" cy="662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📦</a:t>
            </a:r>
            <a:r>
              <a:rPr lang="en-US" altLang="en-US">
                <a:solidFill>
                  <a:schemeClr val="bg1"/>
                </a:solidFill>
              </a:rPr>
              <a:t> Abstraction Benefits</a:t>
            </a:r>
            <a:endParaRPr lang="en-US" altLang="en-US">
              <a:solidFill>
                <a:schemeClr val="bg1"/>
              </a:solidFill>
            </a:endParaRPr>
          </a:p>
          <a:p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869315" y="1622425"/>
            <a:ext cx="5365750" cy="3780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>
                <a:solidFill>
                  <a:schemeClr val="bg1"/>
                </a:solidFill>
              </a:rPr>
              <a:t>INTERFACES:</a:t>
            </a:r>
            <a:endParaRPr lang="en-US" altLang="en-US" sz="2800">
              <a:solidFill>
                <a:schemeClr val="bg1"/>
              </a:solidFill>
            </a:endParaRPr>
          </a:p>
          <a:p>
            <a:endParaRPr lang="en-US" altLang="en-US" sz="2800">
              <a:solidFill>
                <a:schemeClr val="bg1"/>
              </a:solidFill>
            </a:endParaRPr>
          </a:p>
          <a:p>
            <a:r>
              <a:rPr lang="en-US" altLang="en-US" sz="2800">
                <a:solidFill>
                  <a:schemeClr val="bg1"/>
                </a:solidFill>
              </a:rPr>
              <a:t>interface Vehicle {</a:t>
            </a:r>
            <a:endParaRPr lang="en-US" altLang="en-US" sz="2800">
              <a:solidFill>
                <a:schemeClr val="bg1"/>
              </a:solidFill>
            </a:endParaRPr>
          </a:p>
          <a:p>
            <a:r>
              <a:rPr lang="en-US" altLang="en-US" sz="2800">
                <a:solidFill>
                  <a:schemeClr val="bg1"/>
                </a:solidFill>
              </a:rPr>
              <a:t>    void start();</a:t>
            </a:r>
            <a:endParaRPr lang="en-US" altLang="en-US" sz="2800">
              <a:solidFill>
                <a:schemeClr val="bg1"/>
              </a:solidFill>
            </a:endParaRPr>
          </a:p>
          <a:p>
            <a:r>
              <a:rPr lang="en-US" altLang="en-US" sz="2800">
                <a:solidFill>
                  <a:schemeClr val="bg1"/>
                </a:solidFill>
              </a:rPr>
              <a:t>    void stop();</a:t>
            </a:r>
            <a:endParaRPr lang="en-US" altLang="en-US" sz="2800">
              <a:solidFill>
                <a:schemeClr val="bg1"/>
              </a:solidFill>
            </a:endParaRPr>
          </a:p>
          <a:p>
            <a:r>
              <a:rPr lang="en-US" altLang="en-US" sz="2800">
                <a:solidFill>
                  <a:schemeClr val="bg1"/>
                </a:solidFill>
              </a:rPr>
              <a:t>}</a:t>
            </a:r>
            <a:endParaRPr lang="en-US" altLang="en-US" sz="2800">
              <a:solidFill>
                <a:schemeClr val="bg1"/>
              </a:solidFill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7486015" y="2136775"/>
            <a:ext cx="3188970" cy="2143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✅ Hides complexity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✅ Security enhancement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✅ Focus on essentials</a:t>
            </a:r>
            <a:endParaRPr lang="en-US" altLang="en-US">
              <a:solidFill>
                <a:schemeClr val="bg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64" name="平行四边形 63"/>
          <p:cNvSpPr/>
          <p:nvPr>
            <p:custDataLst>
              <p:tags r:id="rId2"/>
            </p:custDataLst>
          </p:nvPr>
        </p:nvSpPr>
        <p:spPr>
          <a:xfrm rot="10800000">
            <a:off x="487680" y="1565275"/>
            <a:ext cx="11345545" cy="4429760"/>
          </a:xfrm>
          <a:prstGeom prst="parallelogram">
            <a:avLst>
              <a:gd name="adj" fmla="val 0"/>
            </a:avLst>
          </a:prstGeom>
          <a:solidFill>
            <a:schemeClr val="accent3">
              <a:alpha val="5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39" name="任意多边形: 形状 138"/>
          <p:cNvSpPr/>
          <p:nvPr>
            <p:custDataLst>
              <p:tags r:id="rId3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Key Learnings</a:t>
            </a:r>
            <a:endParaRPr lang="en-US" altLang="en-US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855980" y="1922780"/>
            <a:ext cx="10144125" cy="3542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>
                <a:solidFill>
                  <a:schemeClr val="bg1"/>
                </a:solidFill>
              </a:rPr>
              <a:t>• Importance of syntax precision</a:t>
            </a:r>
            <a:endParaRPr lang="en-US" altLang="en-US" sz="2800">
              <a:solidFill>
                <a:schemeClr val="bg1"/>
              </a:solidFill>
            </a:endParaRPr>
          </a:p>
          <a:p>
            <a:r>
              <a:rPr lang="en-US" altLang="en-US" sz="2800">
                <a:solidFill>
                  <a:schemeClr val="bg1"/>
                </a:solidFill>
              </a:rPr>
              <a:t>• Understanding Java memory management</a:t>
            </a:r>
            <a:endParaRPr lang="en-US" altLang="en-US" sz="2800">
              <a:solidFill>
                <a:schemeClr val="bg1"/>
              </a:solidFill>
            </a:endParaRPr>
          </a:p>
          <a:p>
            <a:r>
              <a:rPr lang="en-US" altLang="en-US" sz="2800">
                <a:solidFill>
                  <a:schemeClr val="bg1"/>
                </a:solidFill>
              </a:rPr>
              <a:t>• Best practices for code organization</a:t>
            </a:r>
            <a:endParaRPr lang="en-US" altLang="en-US" sz="2800">
              <a:solidFill>
                <a:schemeClr val="bg1"/>
              </a:solidFill>
            </a:endParaRPr>
          </a:p>
          <a:p>
            <a:r>
              <a:rPr lang="en-US" altLang="en-US" sz="2800">
                <a:solidFill>
                  <a:schemeClr val="bg1"/>
                </a:solidFill>
              </a:rPr>
              <a:t>• Debugging methodology</a:t>
            </a:r>
            <a:endParaRPr lang="en-US" altLang="en-US" sz="2800">
              <a:solidFill>
                <a:schemeClr val="bg1"/>
              </a:solidFill>
            </a:endParaRPr>
          </a:p>
          <a:p>
            <a:r>
              <a:rPr lang="en-US" altLang="en-US" sz="2800">
                <a:solidFill>
                  <a:schemeClr val="bg1"/>
                </a:solidFill>
              </a:rPr>
              <a:t>• Production-ready coding standards</a:t>
            </a:r>
            <a:endParaRPr lang="en-US" altLang="en-US" sz="2800">
              <a:solidFill>
                <a:schemeClr val="bg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 Career Impact</a:t>
            </a:r>
            <a:endParaRPr lang="en-US" altLang="en-US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821055" y="1073661"/>
            <a:ext cx="10645775" cy="4414644"/>
            <a:chOff x="1303" y="1678"/>
            <a:chExt cx="15110" cy="5746"/>
          </a:xfrm>
        </p:grpSpPr>
        <p:sp>
          <p:nvSpPr>
            <p:cNvPr id="179" name="Shape 179"/>
            <p:cNvSpPr/>
            <p:nvPr/>
          </p:nvSpPr>
          <p:spPr>
            <a:xfrm>
              <a:off x="1303" y="1678"/>
              <a:ext cx="3605" cy="585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71437" tIns="71437" rIns="71437" bIns="71437" anchor="ctr">
              <a:spAutoFit/>
            </a:bodyPr>
            <a:lstStyle/>
            <a:p>
              <a:pPr algn="ctr">
                <a:defRPr sz="4200" spc="-84"/>
              </a:pPr>
              <a:r>
                <a:rPr lang="en-US" altLang="en-US" sz="2000">
                  <a:solidFill>
                    <a:schemeClr val="bg1">
                      <a:lumMod val="7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rPr>
                <a:t> Skills Gained</a:t>
              </a:r>
              <a:endParaRPr lang="en-US" altLang="en-US" sz="2000">
                <a:solidFill>
                  <a:schemeClr val="bg1">
                    <a:lumMod val="7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endParaRPr>
            </a:p>
          </p:txBody>
        </p:sp>
        <p:sp>
          <p:nvSpPr>
            <p:cNvPr id="5" name="Shape 179"/>
            <p:cNvSpPr/>
            <p:nvPr/>
          </p:nvSpPr>
          <p:spPr>
            <a:xfrm>
              <a:off x="12513" y="2722"/>
              <a:ext cx="3522" cy="826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71437" tIns="71437" rIns="71437" bIns="71437" anchor="ctr">
              <a:spAutoFit/>
            </a:bodyPr>
            <a:p>
              <a:pPr algn="ctr">
                <a:defRPr sz="4200" spc="-84"/>
              </a:pPr>
              <a:r>
                <a:rPr lang="en-US" altLang="en-US" sz="1600">
                  <a:solidFill>
                    <a:schemeClr val="accent6"/>
                  </a:solidFill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rPr>
                <a:t>PROFESSIONAL SKILLS:</a:t>
              </a:r>
              <a:endParaRPr lang="en-US" altLang="en-US" sz="16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endParaRPr>
            </a:p>
            <a:p>
              <a:pPr algn="ctr">
                <a:defRPr sz="4200" spc="-84"/>
              </a:pPr>
              <a:endParaRPr lang="en-US" altLang="en-US" sz="16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endParaRPr>
            </a:p>
          </p:txBody>
        </p:sp>
        <p:sp>
          <p:nvSpPr>
            <p:cNvPr id="9" name="Shape 204"/>
            <p:cNvSpPr/>
            <p:nvPr/>
          </p:nvSpPr>
          <p:spPr>
            <a:xfrm>
              <a:off x="2427" y="4344"/>
              <a:ext cx="5495" cy="2827"/>
            </a:xfrm>
            <a:prstGeom prst="rect">
              <a:avLst/>
            </a:prstGeom>
            <a:ln w="12700">
              <a:miter lim="400000"/>
            </a:ln>
          </p:spPr>
          <p:txBody>
            <a:bodyPr lIns="71437" tIns="71437" rIns="71437" bIns="71437" anchor="ctr">
              <a:noAutofit/>
            </a:bodyPr>
            <a:p>
              <a:pPr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defRPr sz="1200" i="1">
                  <a:solidFill>
                    <a:srgbClr val="1B1E22"/>
                  </a:solidFill>
                  <a:latin typeface="Roboto Medium" panose="02000000000000000000"/>
                  <a:ea typeface="Roboto Medium" panose="02000000000000000000"/>
                  <a:cs typeface="Roboto Medium" panose="02000000000000000000"/>
                  <a:sym typeface="Roboto Medium" panose="02000000000000000000"/>
                </a:defRPr>
              </a:pPr>
              <a:r>
                <a:rPr lang="en-US" altLang="en-US" sz="1800" i="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• Java syntax mastery</a:t>
              </a:r>
              <a:endParaRPr lang="en-US" altLang="en-US" sz="1800" i="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defRPr sz="1200" i="1">
                  <a:solidFill>
                    <a:srgbClr val="1B1E22"/>
                  </a:solidFill>
                  <a:latin typeface="Roboto Medium" panose="02000000000000000000"/>
                  <a:ea typeface="Roboto Medium" panose="02000000000000000000"/>
                  <a:cs typeface="Roboto Medium" panose="02000000000000000000"/>
                  <a:sym typeface="Roboto Medium" panose="02000000000000000000"/>
                </a:defRPr>
              </a:pPr>
              <a:r>
                <a:rPr lang="en-US" altLang="en-US" sz="1800" i="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• Error detection &amp; resolution</a:t>
              </a:r>
              <a:endParaRPr lang="en-US" altLang="en-US" sz="1800" i="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defRPr sz="1200" i="1">
                  <a:solidFill>
                    <a:srgbClr val="1B1E22"/>
                  </a:solidFill>
                  <a:latin typeface="Roboto Medium" panose="02000000000000000000"/>
                  <a:ea typeface="Roboto Medium" panose="02000000000000000000"/>
                  <a:cs typeface="Roboto Medium" panose="02000000000000000000"/>
                  <a:sym typeface="Roboto Medium" panose="02000000000000000000"/>
                </a:defRPr>
              </a:pPr>
              <a:r>
                <a:rPr lang="en-US" altLang="en-US" sz="1800" i="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• OOP implementation</a:t>
              </a:r>
              <a:endParaRPr lang="en-US" altLang="en-US" sz="1800" i="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defRPr sz="1200" i="1">
                  <a:solidFill>
                    <a:srgbClr val="1B1E22"/>
                  </a:solidFill>
                  <a:latin typeface="Roboto Medium" panose="02000000000000000000"/>
                  <a:ea typeface="Roboto Medium" panose="02000000000000000000"/>
                  <a:cs typeface="Roboto Medium" panose="02000000000000000000"/>
                  <a:sym typeface="Roboto Medium" panose="02000000000000000000"/>
                </a:defRPr>
              </a:pPr>
              <a:r>
                <a:rPr lang="en-US" altLang="en-US" sz="1800" i="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• Code quality assurance</a:t>
              </a:r>
              <a:endParaRPr lang="en-US" altLang="en-US" sz="1800" i="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19" name="Shape 204"/>
            <p:cNvSpPr/>
            <p:nvPr/>
          </p:nvSpPr>
          <p:spPr>
            <a:xfrm>
              <a:off x="11381" y="4441"/>
              <a:ext cx="5032" cy="2983"/>
            </a:xfrm>
            <a:prstGeom prst="rect">
              <a:avLst/>
            </a:prstGeom>
            <a:ln w="12700">
              <a:miter lim="400000"/>
            </a:ln>
          </p:spPr>
          <p:txBody>
            <a:bodyPr lIns="71437" tIns="71437" rIns="71437" bIns="71437" anchor="ctr">
              <a:noAutofit/>
            </a:bodyPr>
            <a:p>
              <a:pPr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defRPr sz="1200" i="1">
                  <a:solidFill>
                    <a:srgbClr val="1B1E22"/>
                  </a:solidFill>
                  <a:latin typeface="Roboto Medium" panose="02000000000000000000"/>
                  <a:ea typeface="Roboto Medium" panose="02000000000000000000"/>
                  <a:cs typeface="Roboto Medium" panose="02000000000000000000"/>
                  <a:sym typeface="Roboto Medium" panose="02000000000000000000"/>
                </a:defRPr>
              </a:pPr>
              <a:r>
                <a:rPr lang="en-US" altLang="en-US" sz="1800" i="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• Analytical thinking</a:t>
              </a:r>
              <a:endParaRPr lang="en-US" altLang="en-US" sz="1800" i="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defRPr sz="1200" i="1">
                  <a:solidFill>
                    <a:srgbClr val="1B1E22"/>
                  </a:solidFill>
                  <a:latin typeface="Roboto Medium" panose="02000000000000000000"/>
                  <a:ea typeface="Roboto Medium" panose="02000000000000000000"/>
                  <a:cs typeface="Roboto Medium" panose="02000000000000000000"/>
                  <a:sym typeface="Roboto Medium" panose="02000000000000000000"/>
                </a:defRPr>
              </a:pPr>
              <a:r>
                <a:rPr lang="en-US" altLang="en-US" sz="1800" i="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• Problem-solving approach</a:t>
              </a:r>
              <a:endParaRPr lang="en-US" altLang="en-US" sz="1800" i="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defRPr sz="1200" i="1">
                  <a:solidFill>
                    <a:srgbClr val="1B1E22"/>
                  </a:solidFill>
                  <a:latin typeface="Roboto Medium" panose="02000000000000000000"/>
                  <a:ea typeface="Roboto Medium" panose="02000000000000000000"/>
                  <a:cs typeface="Roboto Medium" panose="02000000000000000000"/>
                  <a:sym typeface="Roboto Medium" panose="02000000000000000000"/>
                </a:defRPr>
              </a:pPr>
              <a:r>
                <a:rPr lang="en-US" altLang="en-US" sz="1800" i="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• Attention to detail</a:t>
              </a:r>
              <a:endParaRPr lang="en-US" altLang="en-US" sz="1800" i="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  <a:p>
              <a:pPr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defRPr sz="1200" i="1">
                  <a:solidFill>
                    <a:srgbClr val="1B1E22"/>
                  </a:solidFill>
                  <a:latin typeface="Roboto Medium" panose="02000000000000000000"/>
                  <a:ea typeface="Roboto Medium" panose="02000000000000000000"/>
                  <a:cs typeface="Roboto Medium" panose="02000000000000000000"/>
                  <a:sym typeface="Roboto Medium" panose="02000000000000000000"/>
                </a:defRPr>
              </a:pPr>
              <a:r>
                <a:rPr lang="en-US" altLang="en-US" sz="1800" i="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• Documentation skills</a:t>
              </a:r>
              <a:endParaRPr lang="en-US" altLang="en-US" sz="1800" i="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21" name="Shape 204"/>
            <p:cNvSpPr/>
            <p:nvPr/>
          </p:nvSpPr>
          <p:spPr>
            <a:xfrm>
              <a:off x="1723" y="2775"/>
              <a:ext cx="4963" cy="953"/>
            </a:xfrm>
            <a:prstGeom prst="rect">
              <a:avLst/>
            </a:prstGeom>
            <a:ln w="12700">
              <a:miter lim="400000"/>
            </a:ln>
          </p:spPr>
          <p:txBody>
            <a:bodyPr lIns="71437" tIns="71437" rIns="71437" bIns="71437" anchor="ctr">
              <a:spAutoFit/>
            </a:bodyPr>
            <a:p>
              <a:pPr>
                <a:lnSpc>
                  <a:spcPct val="120000"/>
                </a:lnSpc>
                <a:defRPr>
                  <a:latin typeface="Lato Regular"/>
                  <a:ea typeface="Lato Regular"/>
                  <a:cs typeface="Lato Regular"/>
                  <a:sym typeface="Lato Regular"/>
                </a:defRPr>
              </a:pPr>
              <a:r>
                <a:rPr lang="en-US" altLang="en-US" sz="1600">
                  <a:solidFill>
                    <a:schemeClr val="accent1"/>
                  </a:solidFill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  <a:sym typeface="Inter Black" panose="02000503000000020004" charset="0"/>
                </a:rPr>
                <a:t>TECHNICAL SKILLS:</a:t>
              </a:r>
              <a:endParaRPr lang="en-US" altLang="en-US" sz="1600">
                <a:solidFill>
                  <a:schemeClr val="accent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Inter Black" panose="02000503000000020004" charset="0"/>
              </a:endParaRPr>
            </a:p>
            <a:p>
              <a:pPr>
                <a:lnSpc>
                  <a:spcPct val="120000"/>
                </a:lnSpc>
                <a:defRPr>
                  <a:latin typeface="Lato Regular"/>
                  <a:ea typeface="Lato Regular"/>
                  <a:cs typeface="Lato Regular"/>
                  <a:sym typeface="Lato Regular"/>
                </a:defRPr>
              </a:pPr>
              <a:endParaRPr lang="en-US" altLang="en-US" sz="1600">
                <a:solidFill>
                  <a:schemeClr val="accent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Inter Black" panose="02000503000000020004" charset="0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 descr="VCG21128005867512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4445" y="0"/>
            <a:ext cx="12160885" cy="685736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"/>
            </p:custDataLst>
          </p:nvPr>
        </p:nvSpPr>
        <p:spPr>
          <a:xfrm>
            <a:off x="2413318" y="3166110"/>
            <a:ext cx="736536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6000">
                <a:solidFill>
                  <a:schemeClr val="accent6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THANK YOU</a:t>
            </a:r>
            <a:endParaRPr lang="zh-CN" altLang="en-US" sz="6000">
              <a:solidFill>
                <a:schemeClr val="accent6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2084070" y="925830"/>
            <a:ext cx="8166100" cy="18040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en-US" sz="2400">
                <a:ln>
                  <a:noFill/>
                </a:ln>
                <a:solidFill>
                  <a:schemeClr val="bg1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Special thanks to:</a:t>
            </a:r>
            <a:endParaRPr lang="en-US" altLang="en-US" sz="2400">
              <a:ln>
                <a:noFill/>
              </a:ln>
              <a:solidFill>
                <a:schemeClr val="bg1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  <a:p>
            <a:pPr algn="ctr"/>
            <a:r>
              <a:rPr lang="en-US" altLang="en-US" sz="2400">
                <a:ln>
                  <a:noFill/>
                </a:ln>
                <a:solidFill>
                  <a:schemeClr val="bg1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Vaults of Codes Team</a:t>
            </a:r>
            <a:endParaRPr lang="en-US" altLang="en-US" sz="2400">
              <a:ln>
                <a:noFill/>
              </a:ln>
              <a:solidFill>
                <a:schemeClr val="bg1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  <a:p>
            <a:pPr algn="ctr"/>
            <a:r>
              <a:rPr lang="en-US" altLang="en-US" sz="2400">
                <a:ln>
                  <a:noFill/>
                </a:ln>
                <a:solidFill>
                  <a:schemeClr val="bg1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Mentors &amp; Colleagues</a:t>
            </a:r>
            <a:endParaRPr lang="en-US" altLang="en-US" sz="2400">
              <a:ln>
                <a:noFill/>
              </a:ln>
              <a:solidFill>
                <a:schemeClr val="bg1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</p:txBody>
      </p:sp>
      <p:sp>
        <p:nvSpPr>
          <p:cNvPr id="22" name="任意多边形: 形状 14"/>
          <p:cNvSpPr/>
          <p:nvPr>
            <p:custDataLst>
              <p:tags r:id="rId4"/>
            </p:custDataLst>
          </p:nvPr>
        </p:nvSpPr>
        <p:spPr>
          <a:xfrm>
            <a:off x="2377516" y="4206476"/>
            <a:ext cx="7438409" cy="110315"/>
          </a:xfrm>
          <a:custGeom>
            <a:avLst/>
            <a:gdLst>
              <a:gd name="connsiteX0" fmla="*/ 0 w 10926501"/>
              <a:gd name="connsiteY0" fmla="*/ 0 h 162045"/>
              <a:gd name="connsiteX1" fmla="*/ 3761772 w 10926501"/>
              <a:gd name="connsiteY1" fmla="*/ 0 h 162045"/>
              <a:gd name="connsiteX2" fmla="*/ 3923817 w 10926501"/>
              <a:gd name="connsiteY2" fmla="*/ 162045 h 162045"/>
              <a:gd name="connsiteX3" fmla="*/ 6979534 w 10926501"/>
              <a:gd name="connsiteY3" fmla="*/ 162045 h 162045"/>
              <a:gd name="connsiteX4" fmla="*/ 7141579 w 10926501"/>
              <a:gd name="connsiteY4" fmla="*/ 0 h 162045"/>
              <a:gd name="connsiteX5" fmla="*/ 10926501 w 10926501"/>
              <a:gd name="connsiteY5" fmla="*/ 0 h 16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6501" h="162045">
                <a:moveTo>
                  <a:pt x="0" y="0"/>
                </a:moveTo>
                <a:lnTo>
                  <a:pt x="3761772" y="0"/>
                </a:lnTo>
                <a:lnTo>
                  <a:pt x="3923817" y="162045"/>
                </a:lnTo>
                <a:lnTo>
                  <a:pt x="6979534" y="162045"/>
                </a:lnTo>
                <a:lnTo>
                  <a:pt x="7141579" y="0"/>
                </a:lnTo>
                <a:lnTo>
                  <a:pt x="10926501" y="0"/>
                </a:lnTo>
              </a:path>
            </a:pathLst>
          </a:custGeom>
          <a:noFill/>
          <a:ln w="38100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5"/>
            </p:custDataLst>
          </p:nvPr>
        </p:nvSpPr>
        <p:spPr>
          <a:xfrm>
            <a:off x="915670" y="4692650"/>
            <a:ext cx="1058608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 dirty="0">
                <a:solidFill>
                  <a:schemeClr val="lt2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Connect with me:</a:t>
            </a:r>
            <a:endParaRPr lang="en-US" altLang="en-US" sz="2000" dirty="0">
              <a:solidFill>
                <a:schemeClr val="lt2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  <a:p>
            <a:pPr algn="ctr"/>
            <a:r>
              <a:rPr lang="en-US" altLang="en-US" sz="2000" dirty="0">
                <a:solidFill>
                  <a:schemeClr val="lt2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LinkedIn </a:t>
            </a:r>
            <a:r>
              <a:rPr lang="en-IN" altLang="en-US" sz="2000" dirty="0">
                <a:solidFill>
                  <a:schemeClr val="lt2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Profile Link:</a:t>
            </a:r>
            <a:r>
              <a:rPr lang="en-US" altLang="en-US" sz="2000" dirty="0">
                <a:solidFill>
                  <a:schemeClr val="lt2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www.linkedin.com/in/bappi-singh-13a15a33b</a:t>
            </a:r>
            <a:endParaRPr lang="en-US" altLang="en-US" sz="2000" dirty="0">
              <a:solidFill>
                <a:schemeClr val="lt2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  <a:p>
            <a:pPr algn="ctr"/>
            <a:r>
              <a:rPr lang="en-US" altLang="en-US" sz="2000" dirty="0">
                <a:solidFill>
                  <a:schemeClr val="lt2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GitHub </a:t>
            </a:r>
            <a:r>
              <a:rPr lang="en-IN" altLang="en-US" sz="2000" dirty="0">
                <a:solidFill>
                  <a:schemeClr val="lt2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Link:</a:t>
            </a:r>
            <a:r>
              <a:rPr lang="en-US" altLang="en-US" sz="2000" dirty="0">
                <a:solidFill>
                  <a:schemeClr val="lt2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https://github.com/SinghBappi/Vault_of_Codes_Internship_Java</a:t>
            </a:r>
            <a:endParaRPr lang="en-US" altLang="en-US" sz="2000" dirty="0">
              <a:solidFill>
                <a:schemeClr val="lt2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  <a:p>
            <a:pPr algn="ctr"/>
            <a:endParaRPr lang="en-US" altLang="en-US" sz="2000" dirty="0">
              <a:solidFill>
                <a:schemeClr val="lt2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41" name="任意多边形: 形状 138"/>
          <p:cNvSpPr/>
          <p:nvPr>
            <p:custDataLst>
              <p:tags r:id="rId6"/>
            </p:custDataLst>
          </p:nvPr>
        </p:nvSpPr>
        <p:spPr>
          <a:xfrm>
            <a:off x="308610" y="503873"/>
            <a:ext cx="11576685" cy="585025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5" name="任意多边形: 形状 21"/>
          <p:cNvSpPr/>
          <p:nvPr>
            <p:custDataLst>
              <p:tags r:id="rId7"/>
            </p:custDataLst>
          </p:nvPr>
        </p:nvSpPr>
        <p:spPr>
          <a:xfrm rot="16200000" flipV="1">
            <a:off x="-2199640" y="3370898"/>
            <a:ext cx="4707890" cy="116205"/>
          </a:xfrm>
          <a:custGeom>
            <a:avLst/>
            <a:gdLst>
              <a:gd name="connsiteX0" fmla="*/ 0 w 3238500"/>
              <a:gd name="connsiteY0" fmla="*/ 118110 h 118110"/>
              <a:gd name="connsiteX1" fmla="*/ 118110 w 3238500"/>
              <a:gd name="connsiteY1" fmla="*/ 0 h 118110"/>
              <a:gd name="connsiteX2" fmla="*/ 3124200 w 3238500"/>
              <a:gd name="connsiteY2" fmla="*/ 0 h 118110"/>
              <a:gd name="connsiteX3" fmla="*/ 3238500 w 3238500"/>
              <a:gd name="connsiteY3" fmla="*/ 114300 h 11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18110">
                <a:moveTo>
                  <a:pt x="0" y="118110"/>
                </a:moveTo>
                <a:lnTo>
                  <a:pt x="118110" y="0"/>
                </a:lnTo>
                <a:lnTo>
                  <a:pt x="3124200" y="0"/>
                </a:lnTo>
                <a:lnTo>
                  <a:pt x="3238500" y="114300"/>
                </a:lnTo>
              </a:path>
            </a:pathLst>
          </a:custGeom>
          <a:noFill/>
          <a:ln w="9525">
            <a:solidFill>
              <a:schemeClr val="accent1">
                <a:alpha val="70000"/>
              </a:schemeClr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317818" y="176530"/>
            <a:ext cx="11556365" cy="135890"/>
            <a:chOff x="625" y="278"/>
            <a:chExt cx="18199" cy="214"/>
          </a:xfrm>
        </p:grpSpPr>
        <p:sp>
          <p:nvSpPr>
            <p:cNvPr id="24" name="任意多边形: 形状 21"/>
            <p:cNvSpPr/>
            <p:nvPr>
              <p:custDataLst>
                <p:tags r:id="rId8"/>
              </p:custDataLst>
            </p:nvPr>
          </p:nvSpPr>
          <p:spPr>
            <a:xfrm flipV="1">
              <a:off x="7028" y="278"/>
              <a:ext cx="5889" cy="215"/>
            </a:xfrm>
            <a:custGeom>
              <a:avLst/>
              <a:gdLst>
                <a:gd name="connsiteX0" fmla="*/ 0 w 3238500"/>
                <a:gd name="connsiteY0" fmla="*/ 118110 h 118110"/>
                <a:gd name="connsiteX1" fmla="*/ 118110 w 3238500"/>
                <a:gd name="connsiteY1" fmla="*/ 0 h 118110"/>
                <a:gd name="connsiteX2" fmla="*/ 3124200 w 3238500"/>
                <a:gd name="connsiteY2" fmla="*/ 0 h 118110"/>
                <a:gd name="connsiteX3" fmla="*/ 3238500 w 3238500"/>
                <a:gd name="connsiteY3" fmla="*/ 114300 h 11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8500" h="118110">
                  <a:moveTo>
                    <a:pt x="0" y="118110"/>
                  </a:moveTo>
                  <a:lnTo>
                    <a:pt x="118110" y="0"/>
                  </a:lnTo>
                  <a:lnTo>
                    <a:pt x="3124200" y="0"/>
                  </a:lnTo>
                  <a:lnTo>
                    <a:pt x="3238500" y="11430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headEnd type="oval" w="sm" len="sm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cxnSp>
          <p:nvCxnSpPr>
            <p:cNvPr id="9" name="直接连接符 8"/>
            <p:cNvCxnSpPr/>
            <p:nvPr>
              <p:custDataLst>
                <p:tags r:id="rId9"/>
              </p:custDataLst>
            </p:nvPr>
          </p:nvCxnSpPr>
          <p:spPr>
            <a:xfrm flipH="1" flipV="1">
              <a:off x="625" y="278"/>
              <a:ext cx="6402" cy="4"/>
            </a:xfrm>
            <a:prstGeom prst="line">
              <a:avLst/>
            </a:prstGeom>
            <a:ln>
              <a:gradFill>
                <a:gsLst>
                  <a:gs pos="0">
                    <a:srgbClr val="4675FC"/>
                  </a:gs>
                  <a:gs pos="49000">
                    <a:srgbClr val="4675FC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>
              <p:custDataLst>
                <p:tags r:id="rId10"/>
              </p:custDataLst>
            </p:nvPr>
          </p:nvCxnSpPr>
          <p:spPr>
            <a:xfrm flipH="1" flipV="1">
              <a:off x="12954" y="278"/>
              <a:ext cx="5871" cy="68"/>
            </a:xfrm>
            <a:prstGeom prst="line">
              <a:avLst/>
            </a:prstGeom>
            <a:ln>
              <a:gradFill>
                <a:gsLst>
                  <a:gs pos="39000">
                    <a:srgbClr val="4675FC">
                      <a:alpha val="0"/>
                    </a:srgbClr>
                  </a:gs>
                  <a:gs pos="55000">
                    <a:srgbClr val="4675FC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4153853" y="1996440"/>
            <a:ext cx="38696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200" cap="all" dirty="0">
                <a:solidFill>
                  <a:schemeClr val="bg1"/>
                </a:solidFill>
                <a:uFillTx/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03</a:t>
            </a:r>
            <a:endParaRPr lang="zh-CN" altLang="en-US" sz="1200" cap="all" dirty="0">
              <a:solidFill>
                <a:schemeClr val="bg1"/>
              </a:solidFill>
              <a:uFillTx/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 rot="10800000">
            <a:off x="317818" y="6526530"/>
            <a:ext cx="11556365" cy="135890"/>
            <a:chOff x="625" y="278"/>
            <a:chExt cx="18199" cy="214"/>
          </a:xfrm>
        </p:grpSpPr>
        <p:sp>
          <p:nvSpPr>
            <p:cNvPr id="32" name="任意多边形: 形状 21"/>
            <p:cNvSpPr/>
            <p:nvPr>
              <p:custDataLst>
                <p:tags r:id="rId12"/>
              </p:custDataLst>
            </p:nvPr>
          </p:nvSpPr>
          <p:spPr>
            <a:xfrm flipV="1">
              <a:off x="7028" y="278"/>
              <a:ext cx="5889" cy="215"/>
            </a:xfrm>
            <a:custGeom>
              <a:avLst/>
              <a:gdLst>
                <a:gd name="connsiteX0" fmla="*/ 0 w 3238500"/>
                <a:gd name="connsiteY0" fmla="*/ 118110 h 118110"/>
                <a:gd name="connsiteX1" fmla="*/ 118110 w 3238500"/>
                <a:gd name="connsiteY1" fmla="*/ 0 h 118110"/>
                <a:gd name="connsiteX2" fmla="*/ 3124200 w 3238500"/>
                <a:gd name="connsiteY2" fmla="*/ 0 h 118110"/>
                <a:gd name="connsiteX3" fmla="*/ 3238500 w 3238500"/>
                <a:gd name="connsiteY3" fmla="*/ 114300 h 11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8500" h="118110">
                  <a:moveTo>
                    <a:pt x="0" y="118110"/>
                  </a:moveTo>
                  <a:lnTo>
                    <a:pt x="118110" y="0"/>
                  </a:lnTo>
                  <a:lnTo>
                    <a:pt x="3124200" y="0"/>
                  </a:lnTo>
                  <a:lnTo>
                    <a:pt x="3238500" y="11430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headEnd type="oval" w="sm" len="sm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cxnSp>
          <p:nvCxnSpPr>
            <p:cNvPr id="34" name="直接连接符 33"/>
            <p:cNvCxnSpPr/>
            <p:nvPr>
              <p:custDataLst>
                <p:tags r:id="rId13"/>
              </p:custDataLst>
            </p:nvPr>
          </p:nvCxnSpPr>
          <p:spPr>
            <a:xfrm flipH="1" flipV="1">
              <a:off x="625" y="278"/>
              <a:ext cx="6402" cy="4"/>
            </a:xfrm>
            <a:prstGeom prst="line">
              <a:avLst/>
            </a:prstGeom>
            <a:ln>
              <a:gradFill>
                <a:gsLst>
                  <a:gs pos="0">
                    <a:srgbClr val="4675FC"/>
                  </a:gs>
                  <a:gs pos="49000">
                    <a:srgbClr val="4675FC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14"/>
              </p:custDataLst>
            </p:nvPr>
          </p:nvCxnSpPr>
          <p:spPr>
            <a:xfrm flipH="1" flipV="1">
              <a:off x="12954" y="278"/>
              <a:ext cx="5871" cy="68"/>
            </a:xfrm>
            <a:prstGeom prst="line">
              <a:avLst/>
            </a:prstGeom>
            <a:ln>
              <a:gradFill>
                <a:gsLst>
                  <a:gs pos="39000">
                    <a:srgbClr val="4675FC">
                      <a:alpha val="0"/>
                    </a:srgbClr>
                  </a:gs>
                  <a:gs pos="55000">
                    <a:srgbClr val="4675FC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任意多边形: 形状 21"/>
          <p:cNvSpPr/>
          <p:nvPr>
            <p:custDataLst>
              <p:tags r:id="rId15"/>
            </p:custDataLst>
          </p:nvPr>
        </p:nvSpPr>
        <p:spPr>
          <a:xfrm rot="5400000" flipH="1" flipV="1">
            <a:off x="9685655" y="3370898"/>
            <a:ext cx="4707890" cy="116205"/>
          </a:xfrm>
          <a:custGeom>
            <a:avLst/>
            <a:gdLst>
              <a:gd name="connsiteX0" fmla="*/ 0 w 3238500"/>
              <a:gd name="connsiteY0" fmla="*/ 118110 h 118110"/>
              <a:gd name="connsiteX1" fmla="*/ 118110 w 3238500"/>
              <a:gd name="connsiteY1" fmla="*/ 0 h 118110"/>
              <a:gd name="connsiteX2" fmla="*/ 3124200 w 3238500"/>
              <a:gd name="connsiteY2" fmla="*/ 0 h 118110"/>
              <a:gd name="connsiteX3" fmla="*/ 3238500 w 3238500"/>
              <a:gd name="connsiteY3" fmla="*/ 114300 h 11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18110">
                <a:moveTo>
                  <a:pt x="0" y="118110"/>
                </a:moveTo>
                <a:lnTo>
                  <a:pt x="118110" y="0"/>
                </a:lnTo>
                <a:lnTo>
                  <a:pt x="3124200" y="0"/>
                </a:lnTo>
                <a:lnTo>
                  <a:pt x="3238500" y="114300"/>
                </a:lnTo>
              </a:path>
            </a:pathLst>
          </a:custGeom>
          <a:noFill/>
          <a:ln w="9525">
            <a:solidFill>
              <a:schemeClr val="accent1">
                <a:alpha val="70000"/>
              </a:schemeClr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</p:spTree>
    <p:custDataLst>
      <p:tags r:id="rId1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2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2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2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BRIGHTNESS" val="0"/>
  <p:tag name="KSO_WM_UNIT_LINE_FORE_SCHEMECOLOR_INDEX" val="6"/>
  <p:tag name="KSO_WM_UNIT_LINE_FILL_TYPE" val="2"/>
</p:tagLst>
</file>

<file path=ppt/tags/tag12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1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49"/>
  <p:tag name="KSO_WM_UNIT_LINE_FORE_SCHEMECOLOR_INDEX_2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32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.39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55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13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4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49"/>
  <p:tag name="KSO_WM_UNIT_LINE_FORE_SCHEMECOLOR_INDEX_2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35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.39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55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13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9.xml><?xml version="1.0" encoding="utf-8"?>
<p:tagLst xmlns:p="http://schemas.openxmlformats.org/presentationml/2006/main">
  <p:tag name="KSO_WM_DIAGRAM_VIRTUALLY_FRAME" val="{&quot;height&quot;:296.5,&quot;left&quot;:29.75,&quot;top&quot;:134.4,&quot;width&quot;:900.45}"/>
</p:tagLst>
</file>

<file path=ppt/tags/tag140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DIAGRAM_VIRTUALLY_FRAME" val="{&quot;height&quot;:296.5,&quot;left&quot;:29.75,&quot;top&quot;:134.4,&quot;width&quot;:900.45}"/>
</p:tagLst>
</file>

<file path=ppt/tags/tag14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296.5,&quot;left&quot;:29.75,&quot;top&quot;:134.4,&quot;width&quot;:900.45}"/>
</p:tagLst>
</file>

<file path=ppt/tags/tag14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296.5,&quot;left&quot;:29.75,&quot;top&quot;:134.4,&quot;width&quot;:900.45}"/>
</p:tagLst>
</file>

<file path=ppt/tags/tag143.xml><?xml version="1.0" encoding="utf-8"?>
<p:tagLst xmlns:p="http://schemas.openxmlformats.org/presentationml/2006/main">
  <p:tag name="KSO_WM_DIAGRAM_VIRTUALLY_FRAME" val="{&quot;height&quot;:296.5,&quot;left&quot;:29.75,&quot;top&quot;:134.4,&quot;width&quot;:900.45}"/>
</p:tagLst>
</file>

<file path=ppt/tags/tag144.xml><?xml version="1.0" encoding="utf-8"?>
<p:tagLst xmlns:p="http://schemas.openxmlformats.org/presentationml/2006/main">
  <p:tag name="KSO_WM_UNIT_TEXT_FILL_FORE_SCHEMECOLOR_INDEX_BRIGHTNESS" val="-0.35"/>
  <p:tag name="KSO_WM_UNIT_TEXT_FILL_FORE_SCHEMECOLOR_INDEX" val="14"/>
  <p:tag name="KSO_WM_UNIT_TEXT_FILL_TYPE" val="1"/>
</p:tagLst>
</file>

<file path=ppt/tags/tag145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DIAGRAM_VIRTUALLY_FRAME" val="{&quot;height&quot;:296.5,&quot;left&quot;:29.75,&quot;top&quot;:134.4,&quot;width&quot;:900.45}"/>
</p:tagLst>
</file>

<file path=ppt/tags/tag146.xml><?xml version="1.0" encoding="utf-8"?>
<p:tagLst xmlns:p="http://schemas.openxmlformats.org/presentationml/2006/main">
  <p:tag name="KSO_WM_DIAGRAM_VIRTUALLY_FRAME" val="{&quot;height&quot;:296.5,&quot;left&quot;:29.75,&quot;top&quot;:134.4,&quot;width&quot;:900.45}"/>
</p:tagLst>
</file>

<file path=ppt/tags/tag14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296.5,&quot;left&quot;:29.75,&quot;top&quot;:134.4,&quot;width&quot;:900.45}"/>
</p:tagLst>
</file>

<file path=ppt/tags/tag14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296.5,&quot;left&quot;:29.75,&quot;top&quot;:134.4,&quot;width&quot;:900.45}"/>
</p:tagLst>
</file>

<file path=ppt/tags/tag149.xml><?xml version="1.0" encoding="utf-8"?>
<p:tagLst xmlns:p="http://schemas.openxmlformats.org/presentationml/2006/main">
  <p:tag name="KSO_WM_DIAGRAM_VIRTUALLY_FRAME" val="{&quot;height&quot;:296.5,&quot;left&quot;:29.75,&quot;top&quot;:134.4,&quot;width&quot;:900.45}"/>
</p:tagLst>
</file>

<file path=ppt/tags/tag150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DIAGRAM_VIRTUALLY_FRAME" val="{&quot;height&quot;:296.5,&quot;left&quot;:29.75,&quot;top&quot;:134.4,&quot;width&quot;:900.45}"/>
</p:tagLst>
</file>

<file path=ppt/tags/tag151.xml><?xml version="1.0" encoding="utf-8"?>
<p:tagLst xmlns:p="http://schemas.openxmlformats.org/presentationml/2006/main">
  <p:tag name="KSO_WM_DIAGRAM_VIRTUALLY_FRAME" val="{&quot;height&quot;:296.5,&quot;left&quot;:29.75,&quot;top&quot;:134.4,&quot;width&quot;:900.45}"/>
</p:tagLst>
</file>

<file path=ppt/tags/tag15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296.5,&quot;left&quot;:29.75,&quot;top&quot;:134.4,&quot;width&quot;:900.45}"/>
</p:tagLst>
</file>

<file path=ppt/tags/tag15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296.5,&quot;left&quot;:29.75,&quot;top&quot;:134.4,&quot;width&quot;:900.45}"/>
</p:tagLst>
</file>

<file path=ppt/tags/tag154.xml><?xml version="1.0" encoding="utf-8"?>
<p:tagLst xmlns:p="http://schemas.openxmlformats.org/presentationml/2006/main">
  <p:tag name="KSO_WM_DIAGRAM_VIRTUALLY_FRAME" val="{&quot;height&quot;:296.5,&quot;left&quot;:29.75,&quot;top&quot;:134.4,&quot;width&quot;:900.45}"/>
</p:tagLst>
</file>

<file path=ppt/tags/tag155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DIAGRAM_VIRTUALLY_FRAME" val="{&quot;height&quot;:296.5,&quot;left&quot;:29.75,&quot;top&quot;:134.4,&quot;width&quot;:900.45}"/>
</p:tagLst>
</file>

<file path=ppt/tags/tag156.xml><?xml version="1.0" encoding="utf-8"?>
<p:tagLst xmlns:p="http://schemas.openxmlformats.org/presentationml/2006/main">
  <p:tag name="KSO_WM_DIAGRAM_VIRTUALLY_FRAME" val="{&quot;height&quot;:296.5,&quot;left&quot;:29.75,&quot;top&quot;:134.4,&quot;width&quot;:900.45}"/>
</p:tagLst>
</file>

<file path=ppt/tags/tag15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296.5,&quot;left&quot;:29.75,&quot;top&quot;:134.4,&quot;width&quot;:900.45}"/>
</p:tagLst>
</file>

<file path=ppt/tags/tag15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296.5,&quot;left&quot;:29.75,&quot;top&quot;:134.4,&quot;width&quot;:900.45}"/>
</p:tagLst>
</file>

<file path=ppt/tags/tag159.xml><?xml version="1.0" encoding="utf-8"?>
<p:tagLst xmlns:p="http://schemas.openxmlformats.org/presentationml/2006/main">
  <p:tag name="KSO_WM_DIAGRAM_VIRTUALLY_FRAME" val="{&quot;height&quot;:296.5,&quot;left&quot;:29.75,&quot;top&quot;:134.4,&quot;width&quot;:900.45}"/>
</p:tagLst>
</file>

<file path=ppt/tags/tag16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63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1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7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7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7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77.xml><?xml version="1.0" encoding="utf-8"?>
<p:tagLst xmlns:p="http://schemas.openxmlformats.org/presentationml/2006/main">
  <p:tag name="KSO_WM_DIAGRAM_VIRTUALLY_FRAME" val="{&quot;height&quot;:388.95,&quot;left&quot;:496.7,&quot;top&quot;:135.45,&quot;width&quot;:404.25}"/>
</p:tagLst>
</file>

<file path=ppt/tags/tag178.xml><?xml version="1.0" encoding="utf-8"?>
<p:tagLst xmlns:p="http://schemas.openxmlformats.org/presentationml/2006/main">
  <p:tag name="KSO_WM_DIAGRAM_VIRTUALLY_FRAME" val="{&quot;height&quot;:321.3,&quot;left&quot;:496.7,&quot;top&quot;:135.45,&quot;width&quot;:404.25}"/>
</p:tagLst>
</file>

<file path=ppt/tags/tag179.xml><?xml version="1.0" encoding="utf-8"?>
<p:tagLst xmlns:p="http://schemas.openxmlformats.org/presentationml/2006/main">
  <p:tag name="KSO_WM_DIAGRAM_VIRTUALLY_FRAME" val="{&quot;height&quot;:388.95,&quot;left&quot;:496.7,&quot;top&quot;:135.45,&quot;width&quot;:404.25}"/>
</p:tagLst>
</file>

<file path=ppt/tags/tag1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8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85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186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187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188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189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190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191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192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193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194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195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196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197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198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199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200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201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202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203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204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205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206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207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208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209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210.xml><?xml version="1.0" encoding="utf-8"?>
<p:tagLst xmlns:p="http://schemas.openxmlformats.org/presentationml/2006/main">
  <p:tag name="KSO_WM_DIAGRAM_VIRTUALLY_FRAME" val="{&quot;height&quot;:288.14998257723255,&quot;left&quot;:140.2,&quot;top&quot;:153.55,&quot;width&quot;:689.8}"/>
</p:tagLst>
</file>

<file path=ppt/tags/tag21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1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1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21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1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1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217.xml><?xml version="1.0" encoding="utf-8"?>
<p:tagLst xmlns:p="http://schemas.openxmlformats.org/presentationml/2006/main">
  <p:tag name="KSO_WM_DIAGRAM_VIRTUALLY_FRAME" val="{&quot;height&quot;:414.4,&quot;left&quot;:114.47503937007878,&quot;top&quot;:143.45,&quot;width&quot;:730.25}"/>
</p:tagLst>
</file>

<file path=ppt/tags/tag218.xml><?xml version="1.0" encoding="utf-8"?>
<p:tagLst xmlns:p="http://schemas.openxmlformats.org/presentationml/2006/main">
  <p:tag name="KSO_WM_DIAGRAM_VIRTUALLY_FRAME" val="{&quot;height&quot;:414.4,&quot;left&quot;:114.47503937007878,&quot;top&quot;:143.45,&quot;width&quot;:730.25}"/>
</p:tagLst>
</file>

<file path=ppt/tags/tag219.xml><?xml version="1.0" encoding="utf-8"?>
<p:tagLst xmlns:p="http://schemas.openxmlformats.org/presentationml/2006/main">
  <p:tag name="KSO_WM_DIAGRAM_VIRTUALLY_FRAME" val="{&quot;height&quot;:414.4,&quot;left&quot;:114.47503937007878,&quot;top&quot;:143.45,&quot;width&quot;:730.25}"/>
</p:tagLst>
</file>

<file path=ppt/tags/tag22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2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41.85,&quot;left&quot;:42.4,&quot;top&quot;:122.2,&quot;width&quot;:425.3}"/>
</p:tagLst>
</file>

<file path=ppt/tags/tag22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223.xml><?xml version="1.0" encoding="utf-8"?>
<p:tagLst xmlns:p="http://schemas.openxmlformats.org/presentationml/2006/main">
  <p:tag name="KSO_WM_DIAGRAM_VIRTUALLY_FRAME" val="{&quot;height&quot;:341.85,&quot;left&quot;:42.4,&quot;top&quot;:122.2,&quot;width&quot;:425.3}"/>
</p:tagLst>
</file>

<file path=ppt/tags/tag224.xml><?xml version="1.0" encoding="utf-8"?>
<p:tagLst xmlns:p="http://schemas.openxmlformats.org/presentationml/2006/main">
  <p:tag name="KSO_WM_DIAGRAM_VIRTUALLY_FRAME" val="{&quot;height&quot;:341.85,&quot;left&quot;:42.4,&quot;top&quot;:122.2,&quot;width&quot;:425.3}"/>
</p:tagLst>
</file>

<file path=ppt/tags/tag225.xml><?xml version="1.0" encoding="utf-8"?>
<p:tagLst xmlns:p="http://schemas.openxmlformats.org/presentationml/2006/main">
  <p:tag name="KSO_WM_DIAGRAM_VIRTUALLY_FRAME" val="{&quot;height&quot;:341.85,&quot;left&quot;:42.4,&quot;top&quot;:122.2,&quot;width&quot;:425.3}"/>
</p:tagLst>
</file>

<file path=ppt/tags/tag226.xml><?xml version="1.0" encoding="utf-8"?>
<p:tagLst xmlns:p="http://schemas.openxmlformats.org/presentationml/2006/main">
  <p:tag name="KSO_WM_DIAGRAM_VIRTUALLY_FRAME" val="{&quot;height&quot;:341.85,&quot;left&quot;:42.4,&quot;top&quot;:122.2,&quot;width&quot;:425.3}"/>
</p:tagLst>
</file>

<file path=ppt/tags/tag2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2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2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2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3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3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23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3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23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3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3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3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39.xml><?xml version="1.0" encoding="utf-8"?>
<p:tagLst xmlns:p="http://schemas.openxmlformats.org/presentationml/2006/main">
  <p:tag name="KSO_WM_UNIT_TEXT_FILL_FORE_SCHEMECOLOR_INDEX_BRIGHTNESS" val="0"/>
  <p:tag name="KSO_WM_UNIT_TEXT_FILL_FORE_SCHEMECOLOR_INDEX" val="16"/>
  <p:tag name="KSO_WM_UNIT_TEXT_FILL_TYPE" val="1"/>
</p:tagLst>
</file>

<file path=ppt/tags/tag24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BRIGHTNESS" val="0"/>
  <p:tag name="KSO_WM_UNIT_LINE_FORE_SCHEMECOLOR_INDEX" val="6"/>
  <p:tag name="KSO_WM_UNIT_LINE_FILL_TYPE" val="2"/>
</p:tagLst>
</file>

<file path=ppt/tags/tag24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4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43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49"/>
  <p:tag name="KSO_WM_UNIT_LINE_FORE_SCHEMECOLOR_INDEX_2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44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.39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55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245.xml><?xml version="1.0" encoding="utf-8"?>
<p:tagLst xmlns:p="http://schemas.openxmlformats.org/presentationml/2006/main">
  <p:tag name="KSO_WM_UNIT_TEXT_FILL_FORE_SCHEMECOLOR_INDEX_BRIGHTNESS" val="0"/>
  <p:tag name="KSO_WM_UNIT_TEXT_FILL_FORE_SCHEMECOLOR_INDEX" val="16"/>
  <p:tag name="KSO_WM_UNIT_TEXT_FILL_TYPE" val="1"/>
</p:tagLst>
</file>

<file path=ppt/tags/tag24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47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49"/>
  <p:tag name="KSO_WM_UNIT_LINE_FORE_SCHEMECOLOR_INDEX_2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48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.39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55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24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5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51.xml><?xml version="1.0" encoding="utf-8"?>
<p:tagLst xmlns:p="http://schemas.openxmlformats.org/presentationml/2006/main">
  <p:tag name="COMMONDATA" val="eyJoZGlkIjoiMmNmYmEwOWQ4Y2Q0M2IxMGZkNjI4ZjhkZDQyNzg1OTYifQ=="/>
  <p:tag name="KSO_WPP_MARK_KEY" val="37523c5a-f9bd-4157-ab56-121979c0b78d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Inter"/>
        <a:ea typeface="Inter Black"/>
        <a:cs typeface=""/>
      </a:majorFont>
      <a:minorFont>
        <a:latin typeface="Inter"/>
        <a:ea typeface="Inter Blac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675FC"/>
      </a:accent1>
      <a:accent2>
        <a:srgbClr val="4589FB"/>
      </a:accent2>
      <a:accent3>
        <a:srgbClr val="54A6FB"/>
      </a:accent3>
      <a:accent4>
        <a:srgbClr val="47B2FA"/>
      </a:accent4>
      <a:accent5>
        <a:srgbClr val="4AC7F9"/>
      </a:accent5>
      <a:accent6>
        <a:srgbClr val="4DDBF8"/>
      </a:accent6>
      <a:hlink>
        <a:srgbClr val="0563C1"/>
      </a:hlink>
      <a:folHlink>
        <a:srgbClr val="954D72"/>
      </a:folHlink>
    </a:clrScheme>
    <a:fontScheme name="自定义 9">
      <a:majorFont>
        <a:latin typeface="Inter"/>
        <a:ea typeface="Inter Black"/>
        <a:cs typeface=""/>
      </a:majorFont>
      <a:minorFont>
        <a:latin typeface="Inter"/>
        <a:ea typeface="Inter Blac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 Black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Inter"/>
        <a:font script="Hebr" typeface="Int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 Black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Inter"/>
        <a:font script="Hebr" typeface="Int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2993</Words>
  <Application>WPS Presentation</Application>
  <PresentationFormat>宽屏</PresentationFormat>
  <Paragraphs>245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9" baseType="lpstr">
      <vt:lpstr>Arial</vt:lpstr>
      <vt:lpstr>SimSun</vt:lpstr>
      <vt:lpstr>Wingdings</vt:lpstr>
      <vt:lpstr>Inter</vt:lpstr>
      <vt:lpstr>Inter Black</vt:lpstr>
      <vt:lpstr>Wingdings</vt:lpstr>
      <vt:lpstr>Helvetica</vt:lpstr>
      <vt:lpstr>Microsoft YaHei</vt:lpstr>
      <vt:lpstr>Arial Unicode MS</vt:lpstr>
      <vt:lpstr>Lato Regular</vt:lpstr>
      <vt:lpstr>Liberation Mono</vt:lpstr>
      <vt:lpstr>Roboto Slab Bold</vt:lpstr>
      <vt:lpstr>Roboto Slab Regular</vt:lpstr>
      <vt:lpstr>Montserrat-Regular</vt:lpstr>
      <vt:lpstr>Helvetica Light</vt:lpstr>
      <vt:lpstr>Roboto Medium</vt:lpstr>
      <vt:lpstr>Open Sans Light</vt:lpstr>
      <vt:lpstr>Times New Roman</vt:lpstr>
      <vt:lpstr>Carlito</vt:lpstr>
      <vt:lpstr>Wide Latin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Bappi Singh</cp:lastModifiedBy>
  <cp:revision>164</cp:revision>
  <dcterms:created xsi:type="dcterms:W3CDTF">2019-06-19T02:08:00Z</dcterms:created>
  <dcterms:modified xsi:type="dcterms:W3CDTF">2025-11-09T15:45:51Z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1033-12.2.0.23155</vt:lpwstr>
  </property>
  <property fmtid="{D5CDD505-2E9C-101B-9397-08002B2CF9AE}" pid="3" name="ICV">
    <vt:lpwstr>64589D6988F2426F9789E28CE7B97F1C_11</vt:lpwstr>
  </property>
</Properties>
</file>